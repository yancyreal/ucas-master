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0" r:id="rId6"/>
    <p:sldId id="259" r:id="rId7"/>
    <p:sldId id="260" r:id="rId8"/>
    <p:sldId id="261" r:id="rId9"/>
    <p:sldId id="273" r:id="rId10"/>
    <p:sldId id="262" r:id="rId11"/>
    <p:sldId id="263" r:id="rId12"/>
    <p:sldId id="264" r:id="rId13"/>
    <p:sldId id="275" r:id="rId14"/>
    <p:sldId id="277" r:id="rId15"/>
    <p:sldId id="278" r:id="rId16"/>
    <p:sldId id="271" r:id="rId17"/>
    <p:sldId id="265" r:id="rId18"/>
    <p:sldId id="279" r:id="rId19"/>
    <p:sldId id="272" r:id="rId20"/>
    <p:sldId id="268" r:id="rId21"/>
    <p:sldId id="269" r:id="rId22"/>
    <p:sldId id="270" r:id="rId23"/>
    <p:sldId id="266" r:id="rId24"/>
  </p:sldIdLst>
  <p:sldSz cx="10946130" cy="6858000"/>
  <p:notesSz cx="6858000" cy="9144000"/>
  <p:custDataLst>
    <p:tags r:id="rId2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" userDrawn="1">
          <p15:clr>
            <a:srgbClr val="A4A3A4"/>
          </p15:clr>
        </p15:guide>
        <p15:guide id="2" pos="36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  <p:cmAuthor id="2" name="Athene" initials="A" lastIdx="2" clrIdx="1"/>
  <p:cmAuthor id="3" name="Microsoft Office User" initials="M" lastIdx="1" clrIdx="2"/>
  <p:cmAuthor id="4" name="loongson" initials="l" lastIdx="19" clrIdx="3"/>
  <p:cmAuthor id="5" name=" " initials=" " lastIdx="1" clrIdx="3"/>
  <p:cmAuthor id="6" name="liulili" initials="l" lastIdx="13" clrIdx="5"/>
  <p:cmAuthor id="7" name="WenWen" initials="W" lastIdx="1" clrIdx="6"/>
  <p:cmAuthor id="8" name="姜伟光" initials="姜" lastIdx="1" clrIdx="0"/>
  <p:cmAuthor id="9" name="宋洁然" initials="宋" lastIdx="2" clrIdx="1"/>
  <p:cmAuthor id="10" name="ming qiu" initials="m" lastIdx="17" clrIdx="1"/>
  <p:cmAuthor id="18" name="robin.song" initials="r [3]" lastIdx="1" clrIdx="17"/>
  <p:cmAuthor id="21" name="Microsoft Office 用户" initials="Office [10]" lastIdx="1" clrIdx="2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4" d="100"/>
          <a:sy n="74" d="100"/>
        </p:scale>
        <p:origin x="-96" y="-210"/>
      </p:cViewPr>
      <p:guideLst>
        <p:guide orient="horz" pos="2073"/>
        <p:guide pos="36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3906" name="页眉占位符 12390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z="1200" b="0" strike="noStrike" noProof="1" dirty="0"/>
          </a:p>
        </p:txBody>
      </p:sp>
      <p:sp>
        <p:nvSpPr>
          <p:cNvPr id="123907" name="日期占位符 123906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fontAlgn="base"/>
            <a:endParaRPr lang="zh-CN" altLang="en-US" sz="1200" b="0" strike="noStrike" noProof="1" dirty="0"/>
          </a:p>
        </p:txBody>
      </p:sp>
      <p:sp>
        <p:nvSpPr>
          <p:cNvPr id="58372" name="幻灯片图像占位符 123907"/>
          <p:cNvSpPr>
            <a:spLocks noRot="1" noTextEdit="1"/>
          </p:cNvSpPr>
          <p:nvPr>
            <p:ph type="sldImg"/>
          </p:nvPr>
        </p:nvSpPr>
        <p:spPr>
          <a:xfrm>
            <a:off x="693738" y="685800"/>
            <a:ext cx="5470525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8373" name="文本占位符 123908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23910" name="页脚占位符 123909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fontAlgn="base"/>
            <a:endParaRPr lang="zh-CN" altLang="en-US" sz="1200" b="0" strike="noStrike" noProof="1" dirty="0"/>
          </a:p>
        </p:txBody>
      </p:sp>
      <p:sp>
        <p:nvSpPr>
          <p:cNvPr id="123911" name="灯片编号占位符 123910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fontAlgn="base"/>
            <a:fld id="{9A0DB2DC-4C9A-4742-B13C-FB6460FD3503}" type="slidenum">
              <a:rPr lang="zh-CN" altLang="en-US" sz="1200" b="0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各位老师大家早上好，我是鄢玺，我的指导老师是张福新</a:t>
            </a:r>
            <a:r>
              <a:rPr lang="zh-CN" altLang="en-US" dirty="0">
                <a:sym typeface="+mn-ea"/>
              </a:rPr>
              <a:t>老师，我的毕业设计的开题题目是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1506" name="副标题 21505"/>
          <p:cNvSpPr>
            <a:spLocks noGrp="1"/>
          </p:cNvSpPr>
          <p:nvPr>
            <p:ph type="subTitle" idx="1"/>
          </p:nvPr>
        </p:nvSpPr>
        <p:spPr>
          <a:xfrm>
            <a:off x="1550988" y="4038600"/>
            <a:ext cx="8423275" cy="711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ctr">
              <a:buClr>
                <a:srgbClr val="000000"/>
              </a:buClr>
              <a:buSzTx/>
              <a:buFont typeface="Wingdings" panose="05000000000000000000" pitchFamily="2" charset="2"/>
              <a:buNone/>
              <a:defRPr>
                <a:solidFill>
                  <a:schemeClr val="bg1"/>
                </a:solidFill>
              </a:defRPr>
            </a:lvl1pPr>
            <a:lvl2pPr marL="457200" lvl="1" indent="0" algn="ctr">
              <a:buClr>
                <a:srgbClr val="000000"/>
              </a:buClr>
              <a:buSzTx/>
              <a:buFontTx/>
              <a:buNone/>
              <a:defRPr>
                <a:solidFill>
                  <a:schemeClr val="bg1"/>
                </a:solidFill>
              </a:defRPr>
            </a:lvl2pPr>
            <a:lvl3pPr marL="914400" lvl="2" indent="0" algn="ctr">
              <a:buClr>
                <a:srgbClr val="000000"/>
              </a:buClr>
              <a:buSzTx/>
              <a:buFont typeface="Wingdings" panose="05000000000000000000" pitchFamily="2" charset="2"/>
              <a:buNone/>
              <a:defRPr>
                <a:solidFill>
                  <a:schemeClr val="bg1"/>
                </a:solidFill>
              </a:defRPr>
            </a:lvl3pPr>
            <a:lvl4pPr marL="1371600" lvl="3" indent="0" algn="ctr">
              <a:buClr>
                <a:srgbClr val="000000"/>
              </a:buClr>
              <a:buSzTx/>
              <a:buFontTx/>
              <a:buNone/>
              <a:defRPr>
                <a:solidFill>
                  <a:schemeClr val="bg1"/>
                </a:solidFill>
              </a:defRPr>
            </a:lvl4pPr>
            <a:lvl5pPr marL="1828800" lvl="4" indent="0" algn="ctr">
              <a:buClr>
                <a:srgbClr val="000000"/>
              </a:buClr>
              <a:buSzTx/>
              <a:buFont typeface="Wingdings" panose="05000000000000000000" pitchFamily="2" charset="2"/>
              <a:buNone/>
              <a:defRPr>
                <a:solidFill>
                  <a:schemeClr val="bg1"/>
                </a:solidFill>
              </a:defRPr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1510" name="标题 21509"/>
          <p:cNvSpPr>
            <a:spLocks noGrp="1"/>
          </p:cNvSpPr>
          <p:nvPr>
            <p:ph type="ctrTitle" sz="quarter"/>
          </p:nvPr>
        </p:nvSpPr>
        <p:spPr>
          <a:xfrm>
            <a:off x="1095375" y="1524000"/>
            <a:ext cx="9302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 algn="ctr">
              <a:defRPr>
                <a:solidFill>
                  <a:schemeClr val="bg1"/>
                </a:solidFill>
              </a:defRPr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1507" name="日期占位符 21506"/>
          <p:cNvSpPr>
            <a:spLocks noGrp="1"/>
          </p:cNvSpPr>
          <p:nvPr>
            <p:ph type="dt" sz="quarter" idx="2"/>
          </p:nvPr>
        </p:nvSpPr>
        <p:spPr>
          <a:xfrm>
            <a:off x="3192463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21508" name="页脚占位符 21507"/>
          <p:cNvSpPr>
            <a:spLocks noGrp="1"/>
          </p:cNvSpPr>
          <p:nvPr>
            <p:ph type="ftr" sz="quarter" idx="3"/>
          </p:nvPr>
        </p:nvSpPr>
        <p:spPr>
          <a:xfrm>
            <a:off x="6219825" y="6553200"/>
            <a:ext cx="392588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/>
            </a:lvl1pPr>
          </a:lstStyle>
          <a:p>
            <a:pPr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21509" name="灯片编号占位符 21508"/>
          <p:cNvSpPr>
            <a:spLocks noGrp="1"/>
          </p:cNvSpPr>
          <p:nvPr>
            <p:ph type="sldNum" sz="quarter" idx="4"/>
          </p:nvPr>
        </p:nvSpPr>
        <p:spPr>
          <a:xfrm>
            <a:off x="12700" y="6359525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6845" y="1709738"/>
            <a:ext cx="9441037" cy="2852737"/>
          </a:xfrm>
        </p:spPr>
        <p:txBody>
          <a:bodyPr anchor="b"/>
          <a:lstStyle>
            <a:lvl1pPr>
              <a:defRPr sz="5385"/>
            </a:lvl1pPr>
          </a:lstStyle>
          <a:p>
            <a:pPr fontAlgn="base"/>
            <a:r>
              <a:rPr lang="zh-CN" altLang="en-US" sz="538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6845" y="4589463"/>
            <a:ext cx="9441037" cy="1500187"/>
          </a:xfrm>
        </p:spPr>
        <p:txBody>
          <a:bodyPr/>
          <a:lstStyle>
            <a:lvl1pPr marL="0" indent="0">
              <a:buNone/>
              <a:defRPr sz="2155">
                <a:solidFill>
                  <a:schemeClr val="tx1">
                    <a:tint val="75000"/>
                  </a:schemeClr>
                </a:solidFill>
              </a:defRPr>
            </a:lvl1pPr>
            <a:lvl2pPr marL="41021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2pPr>
            <a:lvl3pPr marL="821055" indent="0">
              <a:buNone/>
              <a:defRPr sz="1615">
                <a:solidFill>
                  <a:schemeClr val="tx1">
                    <a:tint val="75000"/>
                  </a:schemeClr>
                </a:solidFill>
              </a:defRPr>
            </a:lvl3pPr>
            <a:lvl4pPr marL="123126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4pPr>
            <a:lvl5pPr marL="1642110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5pPr>
            <a:lvl6pPr marL="2052320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6pPr>
            <a:lvl7pPr marL="246316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7pPr>
            <a:lvl8pPr marL="287337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8pPr>
            <a:lvl9pPr marL="328358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21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9150" y="1697038"/>
            <a:ext cx="4692142" cy="41798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02808" y="1697038"/>
            <a:ext cx="4692142" cy="41798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972" y="365125"/>
            <a:ext cx="9441037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5501" y="1778438"/>
            <a:ext cx="4375556" cy="823912"/>
          </a:xfrm>
        </p:spPr>
        <p:txBody>
          <a:bodyPr anchor="ctr" anchorCtr="0"/>
          <a:lstStyle>
            <a:lvl1pPr marL="0" indent="0">
              <a:buNone/>
              <a:defRPr sz="2515"/>
            </a:lvl1pPr>
            <a:lvl2pPr marL="410210" indent="0">
              <a:buNone/>
              <a:defRPr sz="2155"/>
            </a:lvl2pPr>
            <a:lvl3pPr marL="821055" indent="0">
              <a:buNone/>
              <a:defRPr sz="1795"/>
            </a:lvl3pPr>
            <a:lvl4pPr marL="1231265" indent="0">
              <a:buNone/>
              <a:defRPr sz="1615"/>
            </a:lvl4pPr>
            <a:lvl5pPr marL="1642110" indent="0">
              <a:buNone/>
              <a:defRPr sz="1615"/>
            </a:lvl5pPr>
            <a:lvl6pPr marL="2052320" indent="0">
              <a:buNone/>
              <a:defRPr sz="1615"/>
            </a:lvl6pPr>
            <a:lvl7pPr marL="2463165" indent="0">
              <a:buNone/>
              <a:defRPr sz="1615"/>
            </a:lvl7pPr>
            <a:lvl8pPr marL="2873375" indent="0">
              <a:buNone/>
              <a:defRPr sz="1615"/>
            </a:lvl8pPr>
            <a:lvl9pPr marL="3283585" indent="0">
              <a:buNone/>
              <a:defRPr sz="1615"/>
            </a:lvl9pPr>
          </a:lstStyle>
          <a:p>
            <a:pPr lvl="0" fontAlgn="base"/>
            <a:r>
              <a:rPr lang="zh-CN" altLang="en-US" sz="251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65501" y="2665379"/>
            <a:ext cx="4375556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17557" y="1778438"/>
            <a:ext cx="4397105" cy="823912"/>
          </a:xfrm>
        </p:spPr>
        <p:txBody>
          <a:bodyPr anchor="ctr" anchorCtr="0"/>
          <a:lstStyle>
            <a:lvl1pPr marL="0" indent="0">
              <a:buNone/>
              <a:defRPr sz="2515"/>
            </a:lvl1pPr>
            <a:lvl2pPr marL="410210" indent="0">
              <a:buNone/>
              <a:defRPr sz="2155"/>
            </a:lvl2pPr>
            <a:lvl3pPr marL="821055" indent="0">
              <a:buNone/>
              <a:defRPr sz="1795"/>
            </a:lvl3pPr>
            <a:lvl4pPr marL="1231265" indent="0">
              <a:buNone/>
              <a:defRPr sz="1615"/>
            </a:lvl4pPr>
            <a:lvl5pPr marL="1642110" indent="0">
              <a:buNone/>
              <a:defRPr sz="1615"/>
            </a:lvl5pPr>
            <a:lvl6pPr marL="2052320" indent="0">
              <a:buNone/>
              <a:defRPr sz="1615"/>
            </a:lvl6pPr>
            <a:lvl7pPr marL="2463165" indent="0">
              <a:buNone/>
              <a:defRPr sz="1615"/>
            </a:lvl7pPr>
            <a:lvl8pPr marL="2873375" indent="0">
              <a:buNone/>
              <a:defRPr sz="1615"/>
            </a:lvl8pPr>
            <a:lvl9pPr marL="3283585" indent="0">
              <a:buNone/>
              <a:defRPr sz="1615"/>
            </a:lvl9pPr>
          </a:lstStyle>
          <a:p>
            <a:pPr lvl="0" fontAlgn="base"/>
            <a:r>
              <a:rPr lang="zh-CN" altLang="en-US" sz="251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17557" y="2665379"/>
            <a:ext cx="4397105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972" y="457200"/>
            <a:ext cx="3530412" cy="1600200"/>
          </a:xfrm>
        </p:spPr>
        <p:txBody>
          <a:bodyPr anchor="b"/>
          <a:lstStyle>
            <a:lvl1pPr>
              <a:defRPr sz="2875"/>
            </a:lvl1pPr>
          </a:lstStyle>
          <a:p>
            <a:pPr fontAlgn="base"/>
            <a:r>
              <a:rPr lang="zh-CN" altLang="en-US" sz="287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53531" y="987425"/>
            <a:ext cx="5541478" cy="4873625"/>
          </a:xfrm>
        </p:spPr>
        <p:txBody>
          <a:bodyPr/>
          <a:lstStyle>
            <a:lvl1pPr>
              <a:defRPr sz="2875"/>
            </a:lvl1pPr>
            <a:lvl2pPr>
              <a:defRPr sz="2515"/>
            </a:lvl2pPr>
            <a:lvl3pPr>
              <a:defRPr sz="2155"/>
            </a:lvl3pPr>
            <a:lvl4pPr>
              <a:defRPr sz="1795"/>
            </a:lvl4pPr>
            <a:lvl5pPr>
              <a:defRPr sz="1795"/>
            </a:lvl5pPr>
            <a:lvl6pPr>
              <a:defRPr sz="1795"/>
            </a:lvl6pPr>
            <a:lvl7pPr>
              <a:defRPr sz="1795"/>
            </a:lvl7pPr>
            <a:lvl8pPr>
              <a:defRPr sz="1795"/>
            </a:lvl8pPr>
            <a:lvl9pPr>
              <a:defRPr sz="1795"/>
            </a:lvl9pPr>
          </a:lstStyle>
          <a:p>
            <a:pPr lvl="0" fontAlgn="base"/>
            <a:r>
              <a:rPr lang="zh-CN" altLang="en-US" sz="287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5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5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9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9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3972" y="2057400"/>
            <a:ext cx="3530412" cy="3811588"/>
          </a:xfrm>
        </p:spPr>
        <p:txBody>
          <a:bodyPr/>
          <a:lstStyle>
            <a:lvl1pPr marL="0" indent="0">
              <a:buNone/>
              <a:defRPr sz="1435"/>
            </a:lvl1pPr>
            <a:lvl2pPr marL="410210" indent="0">
              <a:buNone/>
              <a:defRPr sz="1255"/>
            </a:lvl2pPr>
            <a:lvl3pPr marL="821055" indent="0">
              <a:buNone/>
              <a:defRPr sz="1075"/>
            </a:lvl3pPr>
            <a:lvl4pPr marL="1231265" indent="0">
              <a:buNone/>
              <a:defRPr sz="900"/>
            </a:lvl4pPr>
            <a:lvl5pPr marL="1642110" indent="0">
              <a:buNone/>
              <a:defRPr sz="900"/>
            </a:lvl5pPr>
            <a:lvl6pPr marL="2052320" indent="0">
              <a:buNone/>
              <a:defRPr sz="900"/>
            </a:lvl6pPr>
            <a:lvl7pPr marL="2463165" indent="0">
              <a:buNone/>
              <a:defRPr sz="900"/>
            </a:lvl7pPr>
            <a:lvl8pPr marL="2873375" indent="0">
              <a:buNone/>
              <a:defRPr sz="900"/>
            </a:lvl8pPr>
            <a:lvl9pPr marL="3283585" indent="0">
              <a:buNone/>
              <a:defRPr sz="900"/>
            </a:lvl9pPr>
          </a:lstStyle>
          <a:p>
            <a:pPr lvl="0" fontAlgn="base"/>
            <a:r>
              <a:rPr lang="zh-CN" altLang="en-US" sz="14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972" y="457200"/>
            <a:ext cx="3739702" cy="1600200"/>
          </a:xfrm>
        </p:spPr>
        <p:txBody>
          <a:bodyPr anchor="b"/>
          <a:lstStyle>
            <a:lvl1pPr>
              <a:defRPr sz="2875"/>
            </a:lvl1pPr>
          </a:lstStyle>
          <a:p>
            <a:pPr fontAlgn="base"/>
            <a:r>
              <a:rPr lang="zh-CN" altLang="en-US" sz="287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3531" y="457201"/>
            <a:ext cx="5541478" cy="5403850"/>
          </a:xfrm>
        </p:spPr>
        <p:txBody>
          <a:bodyPr/>
          <a:lstStyle>
            <a:lvl1pPr marL="0" indent="0">
              <a:buNone/>
              <a:defRPr sz="2875"/>
            </a:lvl1pPr>
            <a:lvl2pPr marL="410210" indent="0">
              <a:buNone/>
              <a:defRPr sz="2515"/>
            </a:lvl2pPr>
            <a:lvl3pPr marL="821055" indent="0">
              <a:buNone/>
              <a:defRPr sz="2155"/>
            </a:lvl3pPr>
            <a:lvl4pPr marL="1231265" indent="0">
              <a:buNone/>
              <a:defRPr sz="1795"/>
            </a:lvl4pPr>
            <a:lvl5pPr marL="1642110" indent="0">
              <a:buNone/>
              <a:defRPr sz="1795"/>
            </a:lvl5pPr>
            <a:lvl6pPr marL="2052320" indent="0">
              <a:buNone/>
              <a:defRPr sz="1795"/>
            </a:lvl6pPr>
            <a:lvl7pPr marL="2463165" indent="0">
              <a:buNone/>
              <a:defRPr sz="1795"/>
            </a:lvl7pPr>
            <a:lvl8pPr marL="2873375" indent="0">
              <a:buNone/>
              <a:defRPr sz="1795"/>
            </a:lvl8pPr>
            <a:lvl9pPr marL="3283585" indent="0">
              <a:buNone/>
              <a:defRPr sz="179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3972" y="2057400"/>
            <a:ext cx="3739702" cy="3811588"/>
          </a:xfrm>
        </p:spPr>
        <p:txBody>
          <a:bodyPr/>
          <a:lstStyle>
            <a:lvl1pPr marL="0" indent="0">
              <a:buNone/>
              <a:defRPr sz="1795"/>
            </a:lvl1pPr>
            <a:lvl2pPr marL="410210" indent="0">
              <a:buNone/>
              <a:defRPr sz="1615"/>
            </a:lvl2pPr>
            <a:lvl3pPr marL="821055" indent="0">
              <a:buNone/>
              <a:defRPr sz="1435"/>
            </a:lvl3pPr>
            <a:lvl4pPr marL="1231265" indent="0">
              <a:buNone/>
              <a:defRPr sz="1255"/>
            </a:lvl4pPr>
            <a:lvl5pPr marL="1642110" indent="0">
              <a:buNone/>
              <a:defRPr sz="1255"/>
            </a:lvl5pPr>
            <a:lvl6pPr marL="2052320" indent="0">
              <a:buNone/>
              <a:defRPr sz="1255"/>
            </a:lvl6pPr>
            <a:lvl7pPr marL="2463165" indent="0">
              <a:buNone/>
              <a:defRPr sz="1255"/>
            </a:lvl7pPr>
            <a:lvl8pPr marL="2873375" indent="0">
              <a:buNone/>
              <a:defRPr sz="1255"/>
            </a:lvl8pPr>
            <a:lvl9pPr marL="3283585" indent="0">
              <a:buNone/>
              <a:defRPr sz="1255"/>
            </a:lvl9pPr>
          </a:lstStyle>
          <a:p>
            <a:pPr lvl="0" fontAlgn="base"/>
            <a:r>
              <a:rPr lang="zh-CN" altLang="en-US" sz="179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001000" y="53975"/>
            <a:ext cx="2393950" cy="58229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9150" y="53975"/>
            <a:ext cx="7043070" cy="58229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2546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541478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2546" y="1825625"/>
            <a:ext cx="9441037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2546" y="4076700"/>
            <a:ext cx="9441037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2546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41478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z="2600" strike="noStrike" noProof="1" dirty="0">
                <a:solidFill>
                  <a:schemeClr val="bg1"/>
                </a:solidFill>
                <a:latin typeface="Arial" panose="020B0604020202090204" pitchFamily="34" charset="0"/>
                <a:ea typeface="楷体_GB2312" pitchFamily="49" charset="-122"/>
                <a:cs typeface="+mn-ea"/>
              </a:rPr>
            </a:fld>
            <a:endParaRPr lang="zh-CN" altLang="en-US" sz="2600" strike="noStrike" noProof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1268413"/>
            <a:ext cx="8597900" cy="1905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095" tIns="41047" rIns="82095" bIns="4104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15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14891" y="634678"/>
            <a:ext cx="10602548" cy="562074"/>
          </a:xfrm>
          <a:prstGeom prst="rect">
            <a:avLst/>
          </a:prstGeom>
        </p:spPr>
        <p:txBody>
          <a:bodyPr/>
          <a:lstStyle>
            <a:lvl1pPr algn="l">
              <a:defRPr sz="2875" spc="100" baseline="0">
                <a:solidFill>
                  <a:srgbClr val="C00000"/>
                </a:solidFill>
                <a:latin typeface="Times New Roman" panose="02020503050405090304" charset="0"/>
                <a:ea typeface="微软雅黑" panose="020B0703020204020201" pitchFamily="34" charset="-122"/>
                <a:cs typeface="Times New Roman" panose="02020503050405090304" charset="0"/>
              </a:defRPr>
            </a:lvl1pPr>
          </a:lstStyle>
          <a:p>
            <a:pPr fontAlgn="base"/>
            <a:r>
              <a:rPr lang="zh-CN" altLang="en-US" sz="2875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直线"/>
          <p:cNvSpPr/>
          <p:nvPr/>
        </p:nvSpPr>
        <p:spPr>
          <a:xfrm>
            <a:off x="455613" y="1096963"/>
            <a:ext cx="10034587" cy="0"/>
          </a:xfrm>
          <a:prstGeom prst="line">
            <a:avLst/>
          </a:prstGeom>
          <a:ln w="762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0" name="文本框"/>
          <p:cNvSpPr>
            <a:spLocks noGrp="1"/>
          </p:cNvSpPr>
          <p:nvPr>
            <p:ph type="title"/>
          </p:nvPr>
        </p:nvSpPr>
        <p:spPr>
          <a:xfrm>
            <a:off x="820960" y="182563"/>
            <a:ext cx="9328916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121" name="文本框"/>
          <p:cNvSpPr>
            <a:spLocks noGrp="1"/>
          </p:cNvSpPr>
          <p:nvPr>
            <p:ph type="body" idx="1"/>
          </p:nvPr>
        </p:nvSpPr>
        <p:spPr>
          <a:xfrm>
            <a:off x="820960" y="1676400"/>
            <a:ext cx="9304211" cy="4495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fontAlgn="base"/>
            <a:r>
              <a:rPr lang="en-US" altLang="zh-CN" strike="noStrike" noProof="1"/>
              <a:t>Click to edit Master text styles</a:t>
            </a:r>
            <a:endParaRPr lang="en-US" altLang="zh-CN" strike="noStrike" noProof="1"/>
          </a:p>
          <a:p>
            <a:pPr lvl="1" fontAlgn="base"/>
            <a:r>
              <a:rPr lang="en-US" altLang="zh-CN" strike="noStrike" noProof="1"/>
              <a:t>Second level</a:t>
            </a:r>
            <a:endParaRPr lang="en-US" altLang="zh-CN" strike="noStrike" noProof="1"/>
          </a:p>
          <a:p>
            <a:pPr lvl="2" fontAlgn="base"/>
            <a:r>
              <a:rPr lang="en-US" altLang="zh-CN" strike="noStrike" noProof="1"/>
              <a:t>Third level</a:t>
            </a:r>
            <a:endParaRPr lang="en-US" altLang="zh-CN" strike="noStrike" noProof="1"/>
          </a:p>
          <a:p>
            <a:pPr lvl="3" fontAlgn="base"/>
            <a:r>
              <a:rPr lang="en-US" altLang="zh-CN" strike="noStrike" noProof="1"/>
              <a:t>Fourth level</a:t>
            </a:r>
            <a:endParaRPr lang="en-US" altLang="zh-CN" strike="noStrike" noProof="1"/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122" name="文本框"/>
          <p:cNvSpPr>
            <a:spLocks noGrp="1"/>
          </p:cNvSpPr>
          <p:nvPr>
            <p:ph type="dt" idx="10"/>
          </p:nvPr>
        </p:nvSpPr>
        <p:spPr>
          <a:xfrm>
            <a:off x="820738" y="6324600"/>
            <a:ext cx="2281238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fontAlgn="base"/>
            <a:endParaRPr lang="zh-CN" altLang="en-US" sz="1300" strike="noStrike" noProof="1">
              <a:latin typeface="Tahoma" panose="020B060403050404020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23" name="文本框"/>
          <p:cNvSpPr>
            <a:spLocks noGrp="1"/>
          </p:cNvSpPr>
          <p:nvPr>
            <p:ph type="ftr"/>
          </p:nvPr>
        </p:nvSpPr>
        <p:spPr>
          <a:xfrm>
            <a:off x="3740150" y="6324600"/>
            <a:ext cx="3465513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 fontAlgn="base"/>
            <a:endParaRPr lang="zh-CN" altLang="en-US" sz="1300" strike="noStrike" noProof="1">
              <a:latin typeface="Tahoma" panose="020B060403050404020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24" name="文本框"/>
          <p:cNvSpPr>
            <a:spLocks noGrp="1"/>
          </p:cNvSpPr>
          <p:nvPr>
            <p:ph type="sldNum"/>
          </p:nvPr>
        </p:nvSpPr>
        <p:spPr>
          <a:xfrm>
            <a:off x="8424863" y="6324600"/>
            <a:ext cx="227965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r" fontAlgn="base"/>
            <a:fld id="{CAD2D6BD-DE1B-4B5F-8B41-2702339687B9}" type="slidenum">
              <a:rPr lang="en-US" altLang="zh-CN" sz="1300" b="0" i="0" u="none" strike="noStrike" kern="1200" cap="none" spc="0" baseline="0" noProof="1">
                <a:solidFill>
                  <a:schemeClr val="tx1"/>
                </a:solidFill>
                <a:latin typeface="Tahoma" panose="020B0604030504040204" charset="0"/>
                <a:ea typeface="宋体" pitchFamily="2" charset="-122"/>
                <a:cs typeface="Arial" panose="020B0604020202090204" pitchFamily="34" charset="0"/>
              </a:rPr>
            </a:fld>
            <a:endParaRPr lang="zh-CN" altLang="en-US" sz="1300" strike="noStrike" noProof="1">
              <a:latin typeface="Tahoma" panose="020B0604030504040204" charset="0"/>
              <a:ea typeface="宋体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47" b="38399"/>
          <a:stretch>
            <a:fillRect/>
          </a:stretch>
        </p:blipFill>
        <p:spPr>
          <a:xfrm flipH="1">
            <a:off x="8319059" y="2963712"/>
            <a:ext cx="2627071" cy="389428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8" t="29135"/>
          <a:stretch>
            <a:fillRect/>
          </a:stretch>
        </p:blipFill>
        <p:spPr>
          <a:xfrm>
            <a:off x="0" y="0"/>
            <a:ext cx="1942186" cy="1865572"/>
          </a:xfrm>
          <a:prstGeom prst="rect">
            <a:avLst/>
          </a:prstGeom>
        </p:spPr>
      </p:pic>
      <p:sp>
        <p:nvSpPr>
          <p:cNvPr id="11" name="矩形: 圆顶角 10"/>
          <p:cNvSpPr/>
          <p:nvPr userDrawn="1"/>
        </p:nvSpPr>
        <p:spPr>
          <a:xfrm>
            <a:off x="278524" y="6812281"/>
            <a:ext cx="10389082" cy="45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A171D"/>
          </a:solidFill>
          <a:ln w="12700" cap="flat" cmpd="sng" algn="ctr">
            <a:noFill/>
            <a:prstDash val="solid"/>
            <a:miter lim="800000"/>
          </a:ln>
          <a:effectLst>
            <a:outerShdw blurRad="723900" sx="102000" sy="102000" algn="ctr" rotWithShape="0">
              <a:srgbClr val="EDA94D">
                <a:alpha val="2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1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charset="-122"/>
              <a:ea typeface="阿里巴巴普惠体 R" charset="-122"/>
              <a:cs typeface="+mn-cs"/>
            </a:endParaRPr>
          </a:p>
        </p:txBody>
      </p:sp>
      <p:pic>
        <p:nvPicPr>
          <p:cNvPr id="5" name="图形 4" descr="处理器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992" y="301625"/>
            <a:ext cx="513101" cy="571501"/>
          </a:xfrm>
          <a:prstGeom prst="rect">
            <a:avLst/>
          </a:prstGeom>
        </p:spPr>
      </p:pic>
      <p:pic>
        <p:nvPicPr>
          <p:cNvPr id="6" name="图片 5" descr="图片包含 游戏机, 物体, 盘子, 钟表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376" y="497961"/>
            <a:ext cx="885230" cy="268371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970614" y="397785"/>
            <a:ext cx="8238076" cy="454025"/>
          </a:xfrm>
        </p:spPr>
        <p:txBody>
          <a:bodyPr>
            <a:noAutofit/>
          </a:bodyPr>
          <a:lstStyle>
            <a:lvl1pPr>
              <a:buNone/>
              <a:defRPr sz="2155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 dirty="0"/>
              <a:t>请在此输入标题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20481"/>
          <p:cNvSpPr>
            <a:spLocks noGrp="1"/>
          </p:cNvSpPr>
          <p:nvPr>
            <p:ph type="title"/>
          </p:nvPr>
        </p:nvSpPr>
        <p:spPr>
          <a:xfrm>
            <a:off x="819150" y="53975"/>
            <a:ext cx="95758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0482"/>
          <p:cNvSpPr>
            <a:spLocks noGrp="1"/>
          </p:cNvSpPr>
          <p:nvPr>
            <p:ph type="body"/>
          </p:nvPr>
        </p:nvSpPr>
        <p:spPr>
          <a:xfrm>
            <a:off x="819150" y="1697038"/>
            <a:ext cx="9575800" cy="417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484" name="日期占位符 20483"/>
          <p:cNvSpPr>
            <a:spLocks noGrp="1"/>
          </p:cNvSpPr>
          <p:nvPr>
            <p:ph type="dt" sz="half" idx="2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/>
            </a:lvl1pPr>
          </a:lstStyle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20485" name="页脚占位符 20484"/>
          <p:cNvSpPr>
            <a:spLocks noGrp="1"/>
          </p:cNvSpPr>
          <p:nvPr>
            <p:ph type="ftr" sz="quarter" idx="3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ctr">
              <a:defRPr sz="1400" b="0"/>
            </a:lvl1pPr>
          </a:lstStyle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20486" name="灯片编号占位符 20485"/>
          <p:cNvSpPr>
            <a:spLocks noGrp="1"/>
          </p:cNvSpPr>
          <p:nvPr>
            <p:ph type="sldNum" sz="quarter" idx="4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sz="3600" b="1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2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Tx/>
        <a:buChar char="–"/>
        <a:defRPr sz="24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20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Tx/>
        <a:buChar char="–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标题 2049"/>
          <p:cNvSpPr>
            <a:spLocks noGrp="1"/>
          </p:cNvSpPr>
          <p:nvPr>
            <p:ph type="ctrTitle" sz="quarter"/>
          </p:nvPr>
        </p:nvSpPr>
        <p:spPr>
          <a:xfrm>
            <a:off x="1051560" y="1627632"/>
            <a:ext cx="8229600" cy="1417320"/>
          </a:xfrm>
        </p:spPr>
        <p:txBody>
          <a:bodyPr wrap="square" lIns="0" tIns="0" rIns="0" bIns="0" anchor="ctr" anchorCtr="0"/>
          <a:p>
            <a:pPr algn="ctr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None/>
            </a:pPr>
            <a:r>
              <a:rPr sz="3400" b="1" i="0" u="none">
                <a:solidFill>
                  <a:srgbClr val="FFFFFF"/>
                </a:solidFill>
              </a:rPr>
              <a:t>基于LoongArch架构的ART执行引擎
适配与优化技术研究</a:t>
            </a:r>
            <a:endParaRPr lang="zh-CN" altLang="en-US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59394" name="副标题 2050"/>
          <p:cNvSpPr>
            <a:spLocks noGrp="1"/>
          </p:cNvSpPr>
          <p:nvPr>
            <p:ph type="subTitle" idx="1"/>
          </p:nvPr>
        </p:nvSpPr>
        <p:spPr>
          <a:xfrm>
            <a:off x="1550988" y="4540885"/>
            <a:ext cx="8423275" cy="711200"/>
          </a:xfrm>
        </p:spPr>
        <p:txBody>
          <a:bodyPr anchor="b" anchorCtr="0"/>
          <a:p>
            <a:r>
              <a:rPr lang="zh-CN"/>
              <a:t>、</a:t>
            </a:r>
            <a:endParaRPr lang="zh-CN"/>
          </a:p>
        </p:txBody>
      </p:sp>
      <p:sp>
        <p:nvSpPr>
          <p:cNvPr id="59395" name="TextBox 59394"/>
          <p:cNvSpPr txBox="1"/>
          <p:nvPr/>
        </p:nvSpPr>
        <p:spPr>
          <a:xfrm>
            <a:off x="1508760" y="4252786"/>
            <a:ext cx="7406640" cy="15436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FFFFFF"/>
                </a:solidFill>
              </a:rPr>
              <a:t>鄢玺</a:t>
            </a:r>
            <a:endParaRPr sz="3000" b="1" i="0" u="none">
              <a:solidFill>
                <a:srgbClr val="FFFFFF"/>
              </a:solidFill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FFFFFF"/>
                </a:solidFill>
              </a:rPr>
              <a:t>导师：张福新</a:t>
            </a:r>
            <a:endParaRPr sz="3000" b="1" i="0" u="none">
              <a:solidFill>
                <a:srgbClr val="FFFFFF"/>
              </a:solidFill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200" b="1" i="0" u="none">
                <a:solidFill>
                  <a:srgbClr val="FFFFFF"/>
                </a:solidFill>
              </a:rPr>
              <a:t>2026年</a:t>
            </a:r>
            <a:r>
              <a:rPr lang="en-US" sz="3200" b="1" i="0" u="none">
                <a:solidFill>
                  <a:srgbClr val="FFFFFF"/>
                </a:solidFill>
              </a:rPr>
              <a:t>5</a:t>
            </a:r>
            <a:r>
              <a:rPr sz="3200" b="1" i="0" u="none">
                <a:solidFill>
                  <a:srgbClr val="FFFFFF"/>
                </a:solidFill>
              </a:rPr>
              <a:t>月</a:t>
            </a:r>
            <a:endParaRPr sz="3200" b="1" i="0" u="non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答辩提纲</a:t>
            </a:r>
            <a:endParaRPr sz="2800" b="1" i="0" u="none">
              <a:solidFill>
                <a:srgbClr val="0033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tIns="164592" rIns="164592" bIns="164592" anchor="ctr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 i="0" u="none">
                <a:solidFill>
                  <a:srgbClr val="002A57"/>
                </a:solidFill>
              </a:rPr>
              <a:t>01  </a:t>
            </a:r>
            <a:r>
              <a:rPr sz="2400" b="1" i="0" u="none">
                <a:solidFill>
                  <a:srgbClr val="003366"/>
                </a:solidFill>
              </a:rPr>
              <a:t>研究背景与目标</a:t>
            </a:r>
            <a:endParaRPr sz="2400" b="1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 i="0" u="none">
                <a:solidFill>
                  <a:srgbClr val="002A57"/>
                </a:solidFill>
              </a:rPr>
              <a:t>02  </a:t>
            </a:r>
            <a:r>
              <a:rPr sz="2400" b="1" i="0" u="none">
                <a:solidFill>
                  <a:srgbClr val="003366"/>
                </a:solidFill>
              </a:rPr>
              <a:t>执行引擎适配与验证</a:t>
            </a:r>
            <a:endParaRPr sz="2400" b="1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 i="0" u="none">
                <a:solidFill>
                  <a:srgbClr val="002A57"/>
                </a:solidFill>
              </a:rPr>
              <a:t>03  </a:t>
            </a:r>
            <a:r>
              <a:rPr sz="2400" b="1" i="0" u="none">
                <a:solidFill>
                  <a:srgbClr val="003366"/>
                </a:solidFill>
              </a:rPr>
              <a:t>性能优化研究与结果</a:t>
            </a:r>
            <a:endParaRPr sz="2400" b="1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 u="none">
                <a:solidFill>
                  <a:srgbClr val="002A57"/>
                </a:solidFill>
              </a:rPr>
              <a:t>04  </a:t>
            </a:r>
            <a:r>
              <a:rPr sz="2400" b="1" i="0" u="none">
                <a:solidFill>
                  <a:srgbClr val="003366"/>
                </a:solidFill>
              </a:rPr>
              <a:t>总结与展望</a:t>
            </a:r>
            <a:endParaRPr sz="2400" b="1" i="0" u="none"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" name="图片 18" descr="slide-03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0195"/>
            <a:ext cx="10946130" cy="6276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整体研究路线</a:t>
            </a:r>
            <a:endParaRPr sz="2800" b="1" i="0" u="none">
              <a:solidFill>
                <a:srgbClr val="00336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 wrap="square" tIns="91440" bIns="9144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 u="none">
                <a:solidFill>
                  <a:srgbClr val="002A57"/>
                </a:solidFill>
              </a:rPr>
              <a:t>本文从“可运行”推进到“可验证”再到“可优化”，最终给出稳定</a:t>
            </a:r>
            <a:r>
              <a:rPr lang="zh-CN" sz="1600" b="1" i="0" u="none">
                <a:solidFill>
                  <a:srgbClr val="002A57"/>
                </a:solidFill>
              </a:rPr>
              <a:t>收益</a:t>
            </a:r>
            <a:r>
              <a:rPr sz="1600" b="1" i="0" u="none">
                <a:solidFill>
                  <a:srgbClr val="002A57"/>
                </a:solidFill>
              </a:rPr>
              <a:t>主结论与收益边界。</a:t>
            </a:r>
            <a:endParaRPr sz="1600" b="1" i="0" u="none">
              <a:solidFill>
                <a:srgbClr val="002A57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执行引擎适配解决平台可用性问题。</a:t>
            </a:r>
            <a:endParaRPr sz="1600" b="0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zh-CN" sz="1600" b="0" i="0" u="none">
                <a:solidFill>
                  <a:srgbClr val="003366"/>
                </a:solidFill>
              </a:rPr>
              <a:t>打通必要</a:t>
            </a:r>
            <a:r>
              <a:rPr lang="en-US" altLang="zh-CN" sz="1600" b="0" i="0" u="none">
                <a:solidFill>
                  <a:srgbClr val="003366"/>
                </a:solidFill>
              </a:rPr>
              <a:t>Benchmark</a:t>
            </a:r>
            <a:r>
              <a:rPr sz="1600" b="0" i="0" u="none">
                <a:solidFill>
                  <a:srgbClr val="003366"/>
                </a:solidFill>
              </a:rPr>
              <a:t>统一验证链路保证语义正确与性能比较口径一致。</a:t>
            </a:r>
            <a:endParaRPr sz="1600" b="0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重复测量约束优化</a:t>
            </a:r>
            <a:r>
              <a:rPr lang="zh-CN" sz="1600" i="0" u="none">
                <a:solidFill>
                  <a:srgbClr val="003366"/>
                </a:solidFill>
              </a:rPr>
              <a:t>正收益</a:t>
            </a:r>
            <a:r>
              <a:rPr lang="zh-CN" sz="1600" b="0" i="0" u="none">
                <a:solidFill>
                  <a:srgbClr val="003366"/>
                </a:solidFill>
              </a:rPr>
              <a:t>方案</a:t>
            </a:r>
            <a:r>
              <a:rPr sz="1600" b="0" i="0" u="none">
                <a:solidFill>
                  <a:srgbClr val="003366"/>
                </a:solidFill>
              </a:rPr>
              <a:t>结论。</a:t>
            </a:r>
            <a:endParaRPr sz="1600" b="0" i="0" u="none">
              <a:solidFill>
                <a:srgbClr val="003366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52546" y="4040123"/>
            <a:ext cx="1965960" cy="10789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执行引擎适配</a:t>
            </a:r>
            <a:endParaRPr sz="1700" b="1" i="0" u="none">
              <a:solidFill>
                <a:srgbClr val="003366"/>
              </a:solidFill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补齐关键模块，建立 LoongArch 平台可运行 ART。</a:t>
            </a:r>
            <a:endParaRPr sz="1300" b="0" i="0" u="none">
              <a:solidFill>
                <a:srgbClr val="003366"/>
              </a:solidFill>
            </a:endParaRPr>
          </a:p>
        </p:txBody>
      </p:sp>
      <p:sp>
        <p:nvSpPr>
          <p:cNvPr id="6" name="Chevron 5"/>
          <p:cNvSpPr/>
          <p:nvPr/>
        </p:nvSpPr>
        <p:spPr>
          <a:xfrm>
            <a:off x="2791657" y="4405884"/>
            <a:ext cx="379428" cy="347472"/>
          </a:xfrm>
          <a:prstGeom prst="chevron">
            <a:avLst/>
          </a:prstGeom>
          <a:solidFill>
            <a:srgbClr val="002A57"/>
          </a:solidFill>
          <a:ln>
            <a:solidFill>
              <a:srgbClr val="00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4238" y="4040123"/>
            <a:ext cx="1965960" cy="10789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统一验证链路</a:t>
            </a:r>
            <a:endParaRPr sz="1700" b="1" i="0" u="none">
              <a:solidFill>
                <a:srgbClr val="003366"/>
              </a:solidFill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以 run-test / libcore / benchmark 建立可复核证据。</a:t>
            </a:r>
            <a:endParaRPr sz="1300" b="0" i="0" u="none">
              <a:solidFill>
                <a:srgbClr val="003366"/>
              </a:solidFill>
            </a:endParaRPr>
          </a:p>
        </p:txBody>
      </p:sp>
      <p:sp>
        <p:nvSpPr>
          <p:cNvPr id="8" name="Chevron 7"/>
          <p:cNvSpPr/>
          <p:nvPr/>
        </p:nvSpPr>
        <p:spPr>
          <a:xfrm>
            <a:off x="5283350" y="4405884"/>
            <a:ext cx="379428" cy="347472"/>
          </a:xfrm>
          <a:prstGeom prst="chevron">
            <a:avLst/>
          </a:prstGeom>
          <a:solidFill>
            <a:srgbClr val="002A57"/>
          </a:solidFill>
          <a:ln>
            <a:solidFill>
              <a:srgbClr val="00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35930" y="4040123"/>
            <a:ext cx="1965960" cy="10789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热点分析筛选</a:t>
            </a:r>
            <a:endParaRPr sz="1700" b="1" i="0" u="none">
              <a:solidFill>
                <a:srgbClr val="003366"/>
              </a:solidFill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固定 baseline，定位真正影响 workload 的主导热点。</a:t>
            </a:r>
            <a:endParaRPr sz="1300" b="0" i="0" u="none">
              <a:solidFill>
                <a:srgbClr val="003366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7775042" y="4405884"/>
            <a:ext cx="379428" cy="347472"/>
          </a:xfrm>
          <a:prstGeom prst="chevron">
            <a:avLst/>
          </a:prstGeom>
          <a:solidFill>
            <a:srgbClr val="002A57"/>
          </a:solidFill>
          <a:ln>
            <a:solidFill>
              <a:srgbClr val="00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7623" y="4040123"/>
            <a:ext cx="1965960" cy="10789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正式结论形成</a:t>
            </a:r>
            <a:endParaRPr sz="1700" b="1" i="0" u="none">
              <a:solidFill>
                <a:srgbClr val="003366"/>
              </a:solidFill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区分稳定收益、边界性收益与失败样本。</a:t>
            </a:r>
            <a:endParaRPr sz="1300" b="0" i="0" u="none">
              <a:solidFill>
                <a:srgbClr val="003366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60120" y="5230368"/>
            <a:ext cx="2560320" cy="6217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u="none">
                <a:solidFill>
                  <a:srgbClr val="003366"/>
                </a:solidFill>
              </a:rPr>
              <a:t>工程产出</a:t>
            </a:r>
            <a:endParaRPr sz="1300" b="1" i="0" u="none">
              <a:solidFill>
                <a:srgbClr val="003366"/>
              </a:solidFill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 u="none">
                <a:solidFill>
                  <a:srgbClr val="002A57"/>
                </a:solidFill>
              </a:rPr>
              <a:t>执行闭环</a:t>
            </a:r>
            <a:endParaRPr sz="2000" b="1" i="0" u="none">
              <a:solidFill>
                <a:srgbClr val="002A57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03320" y="5230368"/>
            <a:ext cx="2560320" cy="6217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u="none">
                <a:solidFill>
                  <a:srgbClr val="003366"/>
                </a:solidFill>
              </a:rPr>
              <a:t>方法产出</a:t>
            </a:r>
            <a:endParaRPr sz="1300" b="1" i="0" u="none">
              <a:solidFill>
                <a:srgbClr val="003366"/>
              </a:solidFill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 u="none">
                <a:solidFill>
                  <a:srgbClr val="002A57"/>
                </a:solidFill>
              </a:rPr>
              <a:t>统一验证链路</a:t>
            </a:r>
            <a:endParaRPr sz="2000" b="1" i="0" u="none">
              <a:solidFill>
                <a:srgbClr val="002A57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46520" y="5230368"/>
            <a:ext cx="2560320" cy="6217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u="none">
                <a:solidFill>
                  <a:srgbClr val="003366"/>
                </a:solidFill>
              </a:rPr>
              <a:t>研究产出</a:t>
            </a:r>
            <a:endParaRPr sz="1300" b="1" i="0" u="none">
              <a:solidFill>
                <a:srgbClr val="003366"/>
              </a:solidFill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 u="none">
                <a:solidFill>
                  <a:srgbClr val="002A57"/>
                </a:solidFill>
              </a:rPr>
              <a:t>稳定主收益结论</a:t>
            </a:r>
            <a:endParaRPr sz="2000" b="1" i="0" u="none">
              <a:solidFill>
                <a:srgbClr val="002A5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002A57"/>
                </a:solidFill>
              </a:rPr>
              <a:t>二、执行引擎适配与验证</a:t>
            </a:r>
            <a:endParaRPr sz="3000" b="1" i="0" u="none">
              <a:solidFill>
                <a:srgbClr val="002A57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 u="none">
                <a:solidFill>
                  <a:srgbClr val="5B6470"/>
                </a:solidFill>
              </a:rPr>
              <a:t>建立可运行、可验证的 LoongArch 平台 ART</a:t>
            </a:r>
            <a:endParaRPr sz="1800" b="0" i="0" u="none">
              <a:solidFill>
                <a:srgbClr val="5B647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整体架构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6760" y="1052830"/>
            <a:ext cx="6610350" cy="528447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适配工作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执行引擎适配的系统闭环</a:t>
            </a:r>
            <a:endParaRPr sz="2800" b="1" i="0" u="none">
              <a:solidFill>
                <a:srgbClr val="00336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49808" y="1078992"/>
            <a:ext cx="8732520" cy="384048"/>
          </a:xfrm>
          <a:prstGeom prst="roundRect">
            <a:avLst/>
          </a:prstGeom>
          <a:solidFill>
            <a:srgbClr val="002A57"/>
          </a:solidFill>
          <a:ln w="15240">
            <a:solidFill>
              <a:srgbClr val="00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 u="none">
                <a:solidFill>
                  <a:srgbClr val="FFFFFF"/>
                </a:solidFill>
              </a:rPr>
              <a:t>核心目标：以执行路径为主线补齐关键模块，形成可运行、可验证的 LoongArch 平台 ART 执行</a:t>
            </a:r>
            <a:r>
              <a:rPr lang="zh-CN" sz="1300" b="1" i="0" u="none">
                <a:solidFill>
                  <a:srgbClr val="FFFFFF"/>
                </a:solidFill>
              </a:rPr>
              <a:t>链路</a:t>
            </a:r>
            <a:endParaRPr lang="zh-CN" sz="1300" b="1" i="0" u="none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8680" y="1664208"/>
            <a:ext cx="8641080" cy="502920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 u="none">
                <a:solidFill>
                  <a:srgbClr val="002A57"/>
                </a:solidFill>
              </a:rPr>
              <a:t>从汇编器、解释器到 JIT、JNI </a:t>
            </a:r>
            <a:r>
              <a:rPr lang="zh-CN" sz="1500" b="1" i="0" u="none">
                <a:solidFill>
                  <a:srgbClr val="002A57"/>
                </a:solidFill>
              </a:rPr>
              <a:t>、</a:t>
            </a:r>
            <a:r>
              <a:rPr sz="1500" b="1" i="0" u="none">
                <a:solidFill>
                  <a:srgbClr val="002A57"/>
                </a:solidFill>
              </a:rPr>
              <a:t>运行时入口</a:t>
            </a:r>
            <a:r>
              <a:rPr lang="zh-CN" sz="1500" b="1" i="0" u="none">
                <a:solidFill>
                  <a:srgbClr val="002A57"/>
                </a:solidFill>
              </a:rPr>
              <a:t>和</a:t>
            </a:r>
            <a:r>
              <a:rPr lang="en-US" altLang="zh-CN" sz="1500" b="1" i="0" u="none">
                <a:solidFill>
                  <a:srgbClr val="002A57"/>
                </a:solidFill>
              </a:rPr>
              <a:t>art</a:t>
            </a:r>
            <a:r>
              <a:rPr lang="zh-CN" sz="1500" b="1" i="0" u="none">
                <a:solidFill>
                  <a:srgbClr val="002A57"/>
                </a:solidFill>
              </a:rPr>
              <a:t>主线优化机制</a:t>
            </a:r>
            <a:r>
              <a:rPr sz="1500" b="1" i="0" u="none">
                <a:solidFill>
                  <a:srgbClr val="002A57"/>
                </a:solidFill>
              </a:rPr>
              <a:t>，</a:t>
            </a:r>
            <a:r>
              <a:rPr lang="zh-CN" sz="1500" b="1" i="0" u="none">
                <a:solidFill>
                  <a:srgbClr val="002A57"/>
                </a:solidFill>
              </a:rPr>
              <a:t>完成</a:t>
            </a:r>
            <a:r>
              <a:rPr sz="1500" b="1" i="0" u="none">
                <a:solidFill>
                  <a:srgbClr val="002A57"/>
                </a:solidFill>
              </a:rPr>
              <a:t>整条执行链条同时闭合。</a:t>
            </a:r>
            <a:endParaRPr sz="1500" b="1" i="0" u="none">
              <a:solidFill>
                <a:srgbClr val="002A5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8680" y="2487168"/>
            <a:ext cx="2240280" cy="10789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Assembler 与基础生成</a:t>
            </a:r>
            <a:endParaRPr sz="1700" b="1" i="0" u="none">
              <a:solidFill>
                <a:srgbClr val="003366"/>
              </a:solidFill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寄存器、指令编码、分支与链接修补能力。</a:t>
            </a:r>
            <a:endParaRPr sz="1300" b="0" i="0" u="none">
              <a:solidFill>
                <a:srgbClr val="00336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0" y="2487168"/>
            <a:ext cx="2240280" cy="10789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C++ 解释器与 Nterp</a:t>
            </a:r>
            <a:endParaRPr sz="1700" b="1" i="0" u="none">
              <a:solidFill>
                <a:srgbClr val="003366"/>
              </a:solidFill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补齐解释执行与字节码派发的关键路径。</a:t>
            </a:r>
            <a:endParaRPr sz="1300" b="0" i="0" u="none">
              <a:solidFill>
                <a:srgbClr val="00336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46520" y="2487168"/>
            <a:ext cx="2240280" cy="10789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JIT 后端与 OSR</a:t>
            </a:r>
            <a:endParaRPr sz="1700" b="1" i="0" u="none">
              <a:solidFill>
                <a:srgbClr val="003366"/>
              </a:solidFill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打通 HIR 到 LoongArch64 机器码生成。</a:t>
            </a:r>
            <a:endParaRPr sz="1300" b="0" i="0" u="none">
              <a:solidFill>
                <a:srgbClr val="003366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3950208"/>
            <a:ext cx="2240280" cy="10789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JNI 编译器与桥接</a:t>
            </a:r>
            <a:endParaRPr sz="1700" b="1" i="0" u="none">
              <a:solidFill>
                <a:srgbClr val="003366"/>
              </a:solidFill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闭合 Java / native 调用链与栈帧约定。</a:t>
            </a:r>
            <a:endParaRPr sz="1300" b="0" i="0" u="none">
              <a:solidFill>
                <a:srgbClr val="00336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57600" y="3950208"/>
            <a:ext cx="2240280" cy="10789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Runtime Fast Path</a:t>
            </a:r>
            <a:endParaRPr sz="1700" b="1" i="0" u="none">
              <a:solidFill>
                <a:srgbClr val="003366"/>
              </a:solidFill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补齐字符串、调用桩、deopt 等运行时入口。</a:t>
            </a:r>
            <a:endParaRPr sz="1300" b="0" i="0" u="none">
              <a:solidFill>
                <a:srgbClr val="003366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46520" y="3950208"/>
            <a:ext cx="2240280" cy="10789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Intrinsic 与能力扩展</a:t>
            </a:r>
            <a:endParaRPr sz="1700" b="1" i="0" u="none">
              <a:solidFill>
                <a:srgbClr val="003366"/>
              </a:solidFill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补充标准库热点路径与执行引擎成熟度。</a:t>
            </a:r>
            <a:endParaRPr sz="1300" b="0" i="0" u="none">
              <a:solidFill>
                <a:srgbClr val="003366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5486400"/>
            <a:ext cx="8641080" cy="384048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 u="none">
                <a:solidFill>
                  <a:srgbClr val="002A57"/>
                </a:solidFill>
              </a:rPr>
              <a:t>结论：适配结果是执行引擎系统闭环，</a:t>
            </a:r>
            <a:r>
              <a:rPr lang="zh-CN" sz="1300" b="1" i="0" u="none">
                <a:solidFill>
                  <a:srgbClr val="002A57"/>
                </a:solidFill>
              </a:rPr>
              <a:t>包含基础</a:t>
            </a:r>
            <a:r>
              <a:rPr sz="1300" b="1" i="0" u="none">
                <a:solidFill>
                  <a:srgbClr val="002A57"/>
                </a:solidFill>
              </a:rPr>
              <a:t>体系结构移植</a:t>
            </a:r>
            <a:r>
              <a:rPr lang="zh-CN" sz="1300" b="1" i="0" u="none">
                <a:solidFill>
                  <a:srgbClr val="002A57"/>
                </a:solidFill>
              </a:rPr>
              <a:t>适配和</a:t>
            </a:r>
            <a:r>
              <a:rPr lang="en-US" altLang="zh-CN" sz="1300" b="1" i="0" u="none">
                <a:solidFill>
                  <a:srgbClr val="002A57"/>
                </a:solidFill>
              </a:rPr>
              <a:t>art</a:t>
            </a:r>
            <a:r>
              <a:rPr lang="zh-CN" altLang="en-US" sz="1300" b="1" i="0" u="none">
                <a:solidFill>
                  <a:srgbClr val="002A57"/>
                </a:solidFill>
              </a:rPr>
              <a:t>主线核心优化机制移植</a:t>
            </a:r>
            <a:r>
              <a:rPr sz="1300" b="1" i="0" u="none">
                <a:solidFill>
                  <a:srgbClr val="002A57"/>
                </a:solidFill>
              </a:rPr>
              <a:t>。</a:t>
            </a:r>
            <a:endParaRPr sz="1300" b="1" i="0" u="none">
              <a:solidFill>
                <a:srgbClr val="002A5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正确性验证结果</a:t>
            </a:r>
            <a:endParaRPr sz="2800" b="1" i="0" u="none">
              <a:solidFill>
                <a:srgbClr val="003366"/>
              </a:solidFill>
            </a:endParaRP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"/>
          </p:nvPr>
        </p:nvGraphicFramePr>
        <p:xfrm>
          <a:off x="819150" y="1697038"/>
          <a:ext cx="9372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508760"/>
                <a:gridCol w="57150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验证项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00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结果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002A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说明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002A57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run-test 用例总数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1033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art/test 当前 run-test 用例总数</a:t>
                      </a:r>
                      <a:endParaRPr sz="115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7FB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compiler 变体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7 类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interp-ac、interpreter、jit、jit-on-first-use、optimizing、speed-profile、baseline</a:t>
                      </a:r>
                      <a:endParaRPr sz="115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理论配置数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7231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1033 × 7</a:t>
                      </a:r>
                      <a:endParaRPr sz="115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7FB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自动 skip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430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根据 knownfailures 规则自动跳过</a:t>
                      </a:r>
                      <a:endParaRPr sz="115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实际执行数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6801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7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系统级目标机回归实际执行集合</a:t>
                      </a:r>
                      <a:endParaRPr sz="115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7FB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libcore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主要测试包通过</a:t>
                      </a:r>
                      <a:endParaRPr sz="120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少量因架构条件限制自动跳过，不影响主要正确性结论</a:t>
                      </a:r>
                      <a:endParaRPr sz="1150" b="0">
                        <a:solidFill>
                          <a:srgbClr val="003366"/>
                        </a:solidFill>
                      </a:endParaRP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002A57"/>
                </a:solidFill>
              </a:rPr>
              <a:t>三、性能优化研究</a:t>
            </a:r>
            <a:endParaRPr sz="3000" b="1" i="0" u="none">
              <a:solidFill>
                <a:srgbClr val="002A57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 u="none">
                <a:solidFill>
                  <a:srgbClr val="5B6470"/>
                </a:solidFill>
              </a:rPr>
              <a:t>统一 baseline、热点驱动与收益边界</a:t>
            </a:r>
            <a:endParaRPr sz="1800" b="0" i="0" u="none">
              <a:solidFill>
                <a:srgbClr val="5B647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60680" y="53975"/>
            <a:ext cx="9575800" cy="1143000"/>
          </a:xfrm>
        </p:spPr>
        <p:txBody>
          <a:bodyPr/>
          <a:p>
            <a:r>
              <a:rPr lang="zh-CN" altLang="en-US">
                <a:sym typeface="+mn-ea"/>
              </a:rPr>
              <a:t>主体</a:t>
            </a:r>
            <a:r>
              <a:rPr lang="zh-CN" altLang="en-US">
                <a:sym typeface="+mn-ea"/>
              </a:rPr>
              <a:t>架构</a:t>
            </a:r>
            <a:endParaRPr lang="zh-CN" altLang="en-US">
              <a:sym typeface="+mn-ea"/>
            </a:endParaRPr>
          </a:p>
        </p:txBody>
      </p:sp>
      <p:pic>
        <p:nvPicPr>
          <p:cNvPr id="3" name="图片 2" descr="art-porting-over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1124585"/>
            <a:ext cx="7536815" cy="49644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基于缓存局部性的数据结构优化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970" y="1124585"/>
            <a:ext cx="8343265" cy="53282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sz="2800" b="1" i="0" u="none">
                <a:solidFill>
                  <a:srgbClr val="003366"/>
                </a:solidFill>
              </a:rPr>
              <a:t>Dex</a:t>
            </a:r>
            <a:r>
              <a:rPr lang="zh-CN" altLang="en-US" sz="2800" b="1" i="0" u="none">
                <a:solidFill>
                  <a:srgbClr val="003366"/>
                </a:solidFill>
              </a:rPr>
              <a:t>验证器</a:t>
            </a:r>
            <a:r>
              <a:rPr sz="2800" b="1" i="0" u="none">
                <a:solidFill>
                  <a:srgbClr val="003366"/>
                </a:solidFill>
              </a:rPr>
              <a:t>的</a:t>
            </a:r>
            <a:r>
              <a:rPr lang="zh-CN" sz="2800" b="1" i="0" u="none">
                <a:solidFill>
                  <a:srgbClr val="003366"/>
                </a:solidFill>
              </a:rPr>
              <a:t>优化</a:t>
            </a:r>
            <a:r>
              <a:rPr sz="2800" b="1" i="0" u="none">
                <a:solidFill>
                  <a:srgbClr val="003366"/>
                </a:solidFill>
              </a:rPr>
              <a:t>结果总览</a:t>
            </a:r>
            <a:endParaRPr sz="2800" b="1" i="0" u="none">
              <a:solidFill>
                <a:srgbClr val="003366"/>
              </a:solidFill>
            </a:endParaRPr>
          </a:p>
        </p:txBody>
      </p:sp>
      <p:pic>
        <p:nvPicPr>
          <p:cNvPr id="4" name="图片 3" descr="dexfileverifier-phase-chain-speedu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80" y="1052830"/>
            <a:ext cx="8626475" cy="4059555"/>
          </a:xfrm>
          <a:prstGeom prst="rect">
            <a:avLst/>
          </a:prstGeom>
        </p:spPr>
      </p:pic>
      <p:sp>
        <p:nvSpPr>
          <p:cNvPr id="6" name="Rounded Rectangle 6"/>
          <p:cNvSpPr/>
          <p:nvPr/>
        </p:nvSpPr>
        <p:spPr>
          <a:xfrm>
            <a:off x="841248" y="5516753"/>
            <a:ext cx="8732520" cy="347472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lang="en-US" altLang="zh-CN" sz="1300" b="1" i="0" u="none">
                <a:solidFill>
                  <a:srgbClr val="002A57"/>
                </a:solidFill>
              </a:rPr>
              <a:t>Dex</a:t>
            </a:r>
            <a:r>
              <a:rPr lang="zh-CN" altLang="en-US" sz="1300" b="1" i="0" u="none">
                <a:solidFill>
                  <a:srgbClr val="002A57"/>
                </a:solidFill>
              </a:rPr>
              <a:t>验证</a:t>
            </a:r>
            <a:r>
              <a:rPr lang="zh-CN" altLang="en-US" sz="1300" b="1" i="0" u="none">
                <a:solidFill>
                  <a:srgbClr val="002A57"/>
                </a:solidFill>
              </a:rPr>
              <a:t>器优化方案</a:t>
            </a:r>
            <a:r>
              <a:rPr lang="zh-CN" sz="1300" b="1" i="0" u="none">
                <a:solidFill>
                  <a:srgbClr val="002A57"/>
                </a:solidFill>
              </a:rPr>
              <a:t>对小型程序的提升</a:t>
            </a:r>
            <a:r>
              <a:rPr lang="en-US" altLang="zh-CN" sz="1300" b="1" i="0" u="none">
                <a:solidFill>
                  <a:srgbClr val="002A57"/>
                </a:solidFill>
              </a:rPr>
              <a:t>2%-5%</a:t>
            </a:r>
            <a:r>
              <a:rPr sz="1300" b="1" i="0" u="none">
                <a:solidFill>
                  <a:srgbClr val="002A57"/>
                </a:solidFill>
              </a:rPr>
              <a:t>。</a:t>
            </a:r>
            <a:endParaRPr sz="1300" b="1" i="0" u="none">
              <a:solidFill>
                <a:srgbClr val="002A5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三项正</a:t>
            </a:r>
            <a:r>
              <a:rPr lang="zh-CN" sz="2800" b="1" i="0" u="none">
                <a:solidFill>
                  <a:srgbClr val="003366"/>
                </a:solidFill>
              </a:rPr>
              <a:t>收益</a:t>
            </a:r>
            <a:r>
              <a:rPr sz="2800" b="1" i="0" u="none">
                <a:solidFill>
                  <a:srgbClr val="003366"/>
                </a:solidFill>
              </a:rPr>
              <a:t>方案：基本原理</a:t>
            </a:r>
            <a:endParaRPr sz="2800" b="1" i="0" u="none">
              <a:solidFill>
                <a:srgbClr val="00336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49808" y="1078992"/>
            <a:ext cx="8732520" cy="384048"/>
          </a:xfrm>
          <a:prstGeom prst="roundRect">
            <a:avLst/>
          </a:prstGeom>
          <a:solidFill>
            <a:srgbClr val="002A57"/>
          </a:solidFill>
          <a:ln w="15240">
            <a:solidFill>
              <a:srgbClr val="00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 u="none">
                <a:solidFill>
                  <a:srgbClr val="FFFFFF"/>
                </a:solidFill>
              </a:rPr>
              <a:t>三项方案分别对应 JIT 时机、字符串热路径和浮点向量 lowering 三类不同瓶颈</a:t>
            </a:r>
            <a:endParaRPr sz="1300" b="1" i="0" u="none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86384" y="1783080"/>
            <a:ext cx="2697480" cy="3547872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 u="none">
                <a:solidFill>
                  <a:srgbClr val="002A57"/>
                </a:solidFill>
              </a:rPr>
              <a:t>方案一：JIT 热度阈值调整</a:t>
            </a:r>
            <a:endParaRPr sz="1600" b="1" i="0" u="none">
              <a:solidFill>
                <a:srgbClr val="002A57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 u="none">
                <a:solidFill>
                  <a:srgbClr val="002A57"/>
                </a:solidFill>
              </a:rPr>
              <a:t>问题：</a:t>
            </a:r>
            <a:r>
              <a:rPr lang="en-US" sz="1250" b="0">
                <a:solidFill>
                  <a:srgbClr val="003366"/>
                </a:solidFill>
                <a:sym typeface="+mn-ea"/>
              </a:rPr>
              <a:t>JIT</a:t>
            </a:r>
            <a:r>
              <a:rPr lang="zh-CN" altLang="en-US" sz="1250" b="0">
                <a:solidFill>
                  <a:srgbClr val="003366"/>
                </a:solidFill>
                <a:sym typeface="+mn-ea"/>
              </a:rPr>
              <a:t>收益往往取决于</a:t>
            </a:r>
            <a:r>
              <a:rPr lang="en-US" altLang="zh-CN" sz="1250" b="0">
                <a:solidFill>
                  <a:srgbClr val="003366"/>
                </a:solidFill>
                <a:sym typeface="+mn-ea"/>
              </a:rPr>
              <a:t>‘</a:t>
            </a:r>
            <a:r>
              <a:rPr lang="zh-CN" altLang="en-US" sz="1250" b="0">
                <a:solidFill>
                  <a:srgbClr val="003366"/>
                </a:solidFill>
                <a:sym typeface="+mn-ea"/>
              </a:rPr>
              <a:t>何时编译</a:t>
            </a:r>
            <a:r>
              <a:rPr lang="en-US" altLang="zh-CN" sz="1250" b="0">
                <a:solidFill>
                  <a:srgbClr val="003366"/>
                </a:solidFill>
                <a:sym typeface="+mn-ea"/>
              </a:rPr>
              <a:t>’</a:t>
            </a:r>
            <a:r>
              <a:rPr lang="zh-CN" altLang="en-US" sz="1250" b="0">
                <a:solidFill>
                  <a:srgbClr val="003366"/>
                </a:solidFill>
                <a:sym typeface="+mn-ea"/>
              </a:rPr>
              <a:t>和</a:t>
            </a:r>
            <a:r>
              <a:rPr lang="en-US" altLang="zh-CN" sz="1250" b="0">
                <a:solidFill>
                  <a:srgbClr val="003366"/>
                </a:solidFill>
                <a:sym typeface="+mn-ea"/>
              </a:rPr>
              <a:t>‘</a:t>
            </a:r>
            <a:r>
              <a:rPr lang="zh-CN" altLang="en-US" sz="1250" b="0">
                <a:solidFill>
                  <a:srgbClr val="003366"/>
                </a:solidFill>
                <a:sym typeface="+mn-ea"/>
              </a:rPr>
              <a:t>编译成本如何摊薄</a:t>
            </a:r>
            <a:r>
              <a:rPr lang="en-US" altLang="zh-CN" sz="1250" b="0">
                <a:solidFill>
                  <a:srgbClr val="003366"/>
                </a:solidFill>
                <a:sym typeface="+mn-ea"/>
              </a:rPr>
              <a:t>’</a:t>
            </a:r>
            <a:r>
              <a:rPr lang="zh-CN" altLang="en-US" sz="1250" b="0">
                <a:solidFill>
                  <a:srgbClr val="003366"/>
                </a:solidFill>
                <a:sym typeface="+mn-ea"/>
              </a:rPr>
              <a:t>的匹配关系。</a:t>
            </a:r>
            <a:r>
              <a:rPr sz="1250" b="0" i="0" u="none">
                <a:solidFill>
                  <a:srgbClr val="003366"/>
                </a:solidFill>
              </a:rPr>
              <a:t>pmd 这类短生命周期 workload 中，热点方法进入基线 JIT 太晚，解释器成本难以及时回收。</a:t>
            </a:r>
            <a:endParaRPr lang="zh-CN" altLang="en-US" sz="1250" b="0" i="0" u="none">
              <a:solidFill>
                <a:srgbClr val="003366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 u="none">
                <a:solidFill>
                  <a:srgbClr val="002A57"/>
                </a:solidFill>
              </a:rPr>
              <a:t>原理：</a:t>
            </a:r>
            <a:r>
              <a:rPr lang="zh-CN" sz="1250" b="0" i="0" u="none">
                <a:solidFill>
                  <a:srgbClr val="002A57"/>
                </a:solidFill>
              </a:rPr>
              <a:t>根据源文件</a:t>
            </a:r>
            <a:r>
              <a:rPr lang="zh-CN" sz="1250" i="0" u="none">
                <a:solidFill>
                  <a:srgbClr val="002A57"/>
                </a:solidFill>
              </a:rPr>
              <a:t>复杂程度</a:t>
            </a:r>
            <a:r>
              <a:rPr sz="1250" b="0" i="0" u="none">
                <a:solidFill>
                  <a:srgbClr val="003366"/>
                </a:solidFill>
              </a:rPr>
              <a:t>只降低第一层 warmup threshold，提前进入 baseline JIT。</a:t>
            </a:r>
            <a:endParaRPr sz="1250" b="0" i="0" u="none">
              <a:solidFill>
                <a:srgbClr val="003366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 u="none">
                <a:solidFill>
                  <a:srgbClr val="002A57"/>
                </a:solidFill>
              </a:rPr>
              <a:t>边界：</a:t>
            </a:r>
            <a:r>
              <a:rPr sz="1250" b="0" i="0" u="none">
                <a:solidFill>
                  <a:srgbClr val="003366"/>
                </a:solidFill>
              </a:rPr>
              <a:t>不动 optimize_threshold，避免放大第二层重编译的全局副作用。</a:t>
            </a:r>
            <a:endParaRPr sz="1250" b="0" i="0" u="none">
              <a:solidFill>
                <a:srgbClr val="003366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66744" y="1783080"/>
            <a:ext cx="2697480" cy="3547872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 u="none">
                <a:solidFill>
                  <a:srgbClr val="002A57"/>
                </a:solidFill>
              </a:rPr>
              <a:t>方案二：字符串搬运批量化</a:t>
            </a:r>
            <a:endParaRPr sz="1600" b="1" i="0" u="none">
              <a:solidFill>
                <a:srgbClr val="002A57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 u="none">
                <a:solidFill>
                  <a:srgbClr val="002A57"/>
                </a:solidFill>
              </a:rPr>
              <a:t>问题：</a:t>
            </a:r>
            <a:r>
              <a:rPr sz="1250" b="0" i="0" u="none">
                <a:solidFill>
                  <a:srgbClr val="003366"/>
                </a:solidFill>
              </a:rPr>
              <a:t>字符串替换、拼接和 UTF-16 构造在 pmd 中持续成为运行时稳定热点。</a:t>
            </a:r>
            <a:r>
              <a:rPr lang="zh-CN" altLang="en-US" sz="1250" b="0" i="0" u="none">
                <a:solidFill>
                  <a:srgbClr val="003366"/>
                </a:solidFill>
              </a:rPr>
              <a:t>在进行字符串操作前，程序要做很多准备工作：检查边界、分配内存、</a:t>
            </a:r>
            <a:r>
              <a:rPr lang="en-US" altLang="zh-CN" sz="1250" b="0" i="0" u="none">
                <a:solidFill>
                  <a:srgbClr val="003366"/>
                </a:solidFill>
              </a:rPr>
              <a:t>.....</a:t>
            </a:r>
            <a:r>
              <a:rPr lang="zh-CN" altLang="en-US" sz="1250" b="0" i="0" u="none">
                <a:solidFill>
                  <a:srgbClr val="003366"/>
                </a:solidFill>
              </a:rPr>
              <a:t>）、判断字符编码类型等。这些动作就是</a:t>
            </a:r>
            <a:r>
              <a:rPr lang="en-US" altLang="zh-CN" sz="1250" b="0" i="0" u="none">
                <a:solidFill>
                  <a:srgbClr val="003366"/>
                </a:solidFill>
              </a:rPr>
              <a:t>“</a:t>
            </a:r>
            <a:r>
              <a:rPr lang="zh-CN" altLang="en-US" sz="1250" b="0" i="0" u="none">
                <a:solidFill>
                  <a:srgbClr val="003366"/>
                </a:solidFill>
              </a:rPr>
              <a:t>固定成本</a:t>
            </a:r>
            <a:r>
              <a:rPr lang="en-US" altLang="zh-CN" sz="1250" b="0" i="0" u="none">
                <a:solidFill>
                  <a:srgbClr val="003366"/>
                </a:solidFill>
              </a:rPr>
              <a:t>”</a:t>
            </a:r>
            <a:r>
              <a:rPr lang="zh-CN" altLang="en-US" sz="1250" b="0" i="0" u="none">
                <a:solidFill>
                  <a:srgbClr val="003366"/>
                </a:solidFill>
              </a:rPr>
              <a:t>。</a:t>
            </a:r>
            <a:endParaRPr lang="zh-CN" altLang="en-US" sz="1250" b="0" i="0" u="none">
              <a:solidFill>
                <a:srgbClr val="003366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 u="none">
                <a:solidFill>
                  <a:srgbClr val="002A57"/>
                </a:solidFill>
              </a:rPr>
              <a:t>原理：</a:t>
            </a:r>
            <a:r>
              <a:rPr lang="zh-CN" sz="1250" b="1" i="0" u="none">
                <a:solidFill>
                  <a:srgbClr val="002A57"/>
                </a:solidFill>
              </a:rPr>
              <a:t>循环展开，</a:t>
            </a:r>
            <a:r>
              <a:rPr sz="1250" b="0" i="0" u="none">
                <a:solidFill>
                  <a:srgbClr val="003366"/>
                </a:solidFill>
              </a:rPr>
              <a:t>把逐元素复制改成固定宽度 batch helper，降低循环控制开销与分支密度。</a:t>
            </a:r>
            <a:endParaRPr sz="1250" b="0" i="0" u="none">
              <a:solidFill>
                <a:srgbClr val="003366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 u="none">
                <a:solidFill>
                  <a:srgbClr val="002A57"/>
                </a:solidFill>
              </a:rPr>
              <a:t>边界：</a:t>
            </a:r>
            <a:r>
              <a:rPr sz="1250" b="0" i="0" u="none">
                <a:solidFill>
                  <a:srgbClr val="003366"/>
                </a:solidFill>
              </a:rPr>
              <a:t>不改字符串语义边界，只做 helper 级局部减负。</a:t>
            </a:r>
            <a:endParaRPr sz="1250" b="0" i="0" u="none">
              <a:solidFill>
                <a:srgbClr val="00336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47104" y="1783080"/>
            <a:ext cx="2697480" cy="3547872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 u="none">
                <a:solidFill>
                  <a:srgbClr val="002A57"/>
                </a:solidFill>
              </a:rPr>
              <a:t>方案三：LSX 浮点 SIMD</a:t>
            </a:r>
            <a:endParaRPr sz="1600" b="1" i="0" u="none">
              <a:solidFill>
                <a:srgbClr val="002A57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 u="none">
                <a:solidFill>
                  <a:srgbClr val="002A57"/>
                </a:solidFill>
              </a:rPr>
              <a:t>问题：</a:t>
            </a:r>
            <a:r>
              <a:rPr sz="1250" b="0" i="0" u="none">
                <a:solidFill>
                  <a:srgbClr val="003366"/>
                </a:solidFill>
              </a:rPr>
              <a:t>前端能识别可向量化循环，但 LoongArch64 后端缺最小浮点 SIMD lowering。</a:t>
            </a:r>
            <a:endParaRPr sz="1250" b="0" i="0" u="none">
              <a:solidFill>
                <a:srgbClr val="003366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 u="none">
                <a:solidFill>
                  <a:srgbClr val="002A57"/>
                </a:solidFill>
              </a:rPr>
              <a:t>原理：</a:t>
            </a:r>
            <a:r>
              <a:rPr sz="1250" b="0" i="0" u="none">
                <a:solidFill>
                  <a:srgbClr val="003366"/>
                </a:solidFill>
              </a:rPr>
              <a:t>只补 float32/float64 的 load/store/add/sub/mul 最小 LSX 闭环。</a:t>
            </a:r>
            <a:endParaRPr sz="1250" b="0" i="0" u="none">
              <a:solidFill>
                <a:srgbClr val="003366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 u="none">
                <a:solidFill>
                  <a:srgbClr val="002A57"/>
                </a:solidFill>
              </a:rPr>
              <a:t>边界：</a:t>
            </a:r>
            <a:r>
              <a:rPr sz="1250" b="0" i="0" u="none">
                <a:solidFill>
                  <a:srgbClr val="003366"/>
                </a:solidFill>
              </a:rPr>
              <a:t>目标是直接命中 lu.small 的规则 dense linear algebra 热循环。</a:t>
            </a:r>
            <a:endParaRPr sz="1250" b="0" i="0" u="none">
              <a:solidFill>
                <a:srgbClr val="00336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41248" y="5504688"/>
            <a:ext cx="8732520" cy="365760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 u="none">
                <a:solidFill>
                  <a:srgbClr val="002A57"/>
                </a:solidFill>
              </a:rPr>
              <a:t>从主导热点出发，只做最小相关、可门控的改动。</a:t>
            </a:r>
            <a:endParaRPr sz="1300" b="1" i="0" u="none">
              <a:solidFill>
                <a:srgbClr val="002A5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三项正式方案的单次结果总览</a:t>
            </a:r>
            <a:endParaRPr sz="2800" b="1" i="0" u="none">
              <a:solidFill>
                <a:srgbClr val="00336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6625" y="4725035"/>
            <a:ext cx="9413240" cy="15417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方案一：JIT 热度阈值调整，pmd +3.</a:t>
            </a:r>
            <a:r>
              <a:rPr lang="en-US" sz="1600" b="0" i="0" u="none">
                <a:solidFill>
                  <a:srgbClr val="003366"/>
                </a:solidFill>
              </a:rPr>
              <a:t>4</a:t>
            </a:r>
            <a:r>
              <a:rPr sz="1600" b="0" i="0" u="none">
                <a:solidFill>
                  <a:srgbClr val="003366"/>
                </a:solidFill>
              </a:rPr>
              <a:t>0%，</a:t>
            </a:r>
            <a:r>
              <a:rPr sz="1600" b="0">
                <a:solidFill>
                  <a:srgbClr val="003366"/>
                </a:solidFill>
                <a:sym typeface="+mn-ea"/>
              </a:rPr>
              <a:t>lu.small </a:t>
            </a:r>
            <a:r>
              <a:rPr lang="en-US" sz="1600" b="0">
                <a:solidFill>
                  <a:srgbClr val="003366"/>
                </a:solidFill>
                <a:sym typeface="+mn-ea"/>
              </a:rPr>
              <a:t>+34.2</a:t>
            </a:r>
            <a:r>
              <a:rPr sz="1600" b="0">
                <a:solidFill>
                  <a:srgbClr val="003366"/>
                </a:solidFill>
                <a:sym typeface="+mn-ea"/>
              </a:rPr>
              <a:t>%</a:t>
            </a:r>
            <a:r>
              <a:rPr lang="zh-CN" sz="1600" b="0">
                <a:solidFill>
                  <a:srgbClr val="003366"/>
                </a:solidFill>
                <a:sym typeface="+mn-ea"/>
              </a:rPr>
              <a:t>，</a:t>
            </a:r>
            <a:r>
              <a:rPr sz="1600" b="0" i="0" u="none">
                <a:solidFill>
                  <a:srgbClr val="003366"/>
                </a:solidFill>
              </a:rPr>
              <a:t>但</a:t>
            </a:r>
            <a:r>
              <a:rPr lang="zh-CN" sz="1600" b="0" i="0" u="none">
                <a:solidFill>
                  <a:srgbClr val="003366"/>
                </a:solidFill>
              </a:rPr>
              <a:t>不同</a:t>
            </a:r>
            <a:r>
              <a:rPr lang="zh-CN" sz="1600" b="0" i="0" u="none">
                <a:solidFill>
                  <a:srgbClr val="003366"/>
                </a:solidFill>
              </a:rPr>
              <a:t>小型程序</a:t>
            </a:r>
            <a:r>
              <a:rPr sz="1600" b="0" i="0" u="none">
                <a:solidFill>
                  <a:srgbClr val="003366"/>
                </a:solidFill>
              </a:rPr>
              <a:t>稳定性不足。</a:t>
            </a:r>
            <a:endParaRPr sz="1600" b="0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方案二：字符串搬运批量化，pmd +0.86%，同时 lu.small -8.89%</a:t>
            </a:r>
            <a:r>
              <a:rPr lang="zh-CN" sz="1600" b="0" i="0" u="none">
                <a:solidFill>
                  <a:srgbClr val="003366"/>
                </a:solidFill>
              </a:rPr>
              <a:t>，</a:t>
            </a:r>
            <a:r>
              <a:rPr sz="1600" b="0">
                <a:solidFill>
                  <a:srgbClr val="003366"/>
                </a:solidFill>
                <a:sym typeface="+mn-ea"/>
              </a:rPr>
              <a:t>说明“局部热点下降”不等于“全局 benchmark 提升”</a:t>
            </a:r>
            <a:r>
              <a:rPr sz="1600" b="0" i="0" u="none">
                <a:solidFill>
                  <a:srgbClr val="003366"/>
                </a:solidFill>
              </a:rPr>
              <a:t>。</a:t>
            </a:r>
            <a:endParaRPr sz="1600" b="0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方案三：LSX 浮点 SIMD，lu.small +44.40%，</a:t>
            </a:r>
            <a:r>
              <a:rPr sz="1600" b="0">
                <a:solidFill>
                  <a:srgbClr val="003366"/>
                </a:solidFill>
                <a:sym typeface="+mn-ea"/>
              </a:rPr>
              <a:t>并不会自动推广到所有数值 workload</a:t>
            </a:r>
            <a:r>
              <a:rPr lang="zh-CN" sz="1600" b="0">
                <a:solidFill>
                  <a:srgbClr val="003366"/>
                </a:solidFill>
                <a:sym typeface="+mn-ea"/>
              </a:rPr>
              <a:t>，低循环负载有效性</a:t>
            </a:r>
            <a:r>
              <a:rPr lang="zh-CN" sz="1600" b="0">
                <a:solidFill>
                  <a:srgbClr val="003366"/>
                </a:solidFill>
                <a:sym typeface="+mn-ea"/>
              </a:rPr>
              <a:t>很低。</a:t>
            </a:r>
            <a:endParaRPr lang="zh-CN" sz="1600" b="0" i="0" u="none">
              <a:solidFill>
                <a:srgbClr val="003366"/>
              </a:solidFill>
              <a:sym typeface="+mn-ea"/>
            </a:endParaRPr>
          </a:p>
        </p:txBody>
      </p:sp>
      <p:pic>
        <p:nvPicPr>
          <p:cNvPr id="7" name="图片 6" descr="final-comparison-speedu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660" y="908685"/>
            <a:ext cx="994029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完整</a:t>
            </a:r>
            <a:r>
              <a:rPr lang="en-US" altLang="zh-CN"/>
              <a:t>SIMD</a:t>
            </a:r>
            <a:r>
              <a:rPr lang="zh-CN" altLang="en-US"/>
              <a:t>性能</a:t>
            </a:r>
            <a:r>
              <a:rPr lang="zh-CN" altLang="en-US"/>
              <a:t>提升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1791335"/>
            <a:ext cx="8293100" cy="2933700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1368425" y="4869180"/>
            <a:ext cx="9413240" cy="428625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en-US" altLang="zh-CN" sz="1600">
                <a:sym typeface="+mn-ea"/>
              </a:rPr>
              <a:t>S2 </a:t>
            </a:r>
            <a:r>
              <a:rPr lang="zh-CN" altLang="en-US" sz="1600">
                <a:sym typeface="+mn-ea"/>
              </a:rPr>
              <a:t>全量</a:t>
            </a:r>
            <a:r>
              <a:rPr lang="en-US" altLang="zh-CN" sz="1600">
                <a:sym typeface="+mn-ea"/>
              </a:rPr>
              <a:t>SIMD</a:t>
            </a:r>
            <a:r>
              <a:rPr lang="zh-CN" altLang="en-US" sz="1600">
                <a:sym typeface="+mn-ea"/>
              </a:rPr>
              <a:t>在关键</a:t>
            </a:r>
            <a:r>
              <a:rPr lang="en-US" altLang="zh-CN" sz="1600">
                <a:sym typeface="+mn-ea"/>
              </a:rPr>
              <a:t> SIMD workload </a:t>
            </a:r>
            <a:r>
              <a:rPr lang="zh-CN" altLang="en-US" sz="1600">
                <a:sym typeface="+mn-ea"/>
              </a:rPr>
              <a:t>上更强，但全量</a:t>
            </a:r>
            <a:r>
              <a:rPr lang="en-US" altLang="zh-CN" sz="1600">
                <a:sym typeface="+mn-ea"/>
              </a:rPr>
              <a:t> JIT </a:t>
            </a:r>
            <a:r>
              <a:rPr lang="zh-CN" altLang="en-US" sz="1600">
                <a:sym typeface="+mn-ea"/>
              </a:rPr>
              <a:t>几何平均还没有明显超过</a:t>
            </a:r>
            <a:r>
              <a:rPr lang="en-US" altLang="zh-CN" sz="1600">
                <a:sym typeface="+mn-ea"/>
              </a:rPr>
              <a:t> S1</a:t>
            </a:r>
            <a:r>
              <a:rPr lang="zh-CN" altLang="en-US" sz="1600">
                <a:sym typeface="+mn-ea"/>
              </a:rPr>
              <a:t>部分</a:t>
            </a:r>
            <a:r>
              <a:rPr lang="en-US" altLang="zh-CN" sz="1600">
                <a:sym typeface="+mn-ea"/>
              </a:rPr>
              <a:t>simd</a:t>
            </a:r>
            <a:endParaRPr lang="en-US" altLang="zh-CN" sz="1600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失败方案为什么失败</a:t>
            </a:r>
            <a:endParaRPr sz="2800" b="1" i="0" u="none">
              <a:solidFill>
                <a:srgbClr val="00336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49808" y="1078992"/>
            <a:ext cx="8732520" cy="384048"/>
          </a:xfrm>
          <a:prstGeom prst="roundRect">
            <a:avLst/>
          </a:prstGeom>
          <a:solidFill>
            <a:srgbClr val="002A57"/>
          </a:solidFill>
          <a:ln w="15240">
            <a:solidFill>
              <a:srgbClr val="00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 u="none">
                <a:solidFill>
                  <a:srgbClr val="FFFFFF"/>
                </a:solidFill>
              </a:rPr>
              <a:t>失败样本不是噪声，而是帮助限定正式结论边界的反例证据</a:t>
            </a:r>
            <a:endParaRPr sz="1300" b="1" i="0" u="none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4672" y="1792224"/>
            <a:ext cx="2697480" cy="1554480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 u="none">
                <a:solidFill>
                  <a:srgbClr val="002A57"/>
                </a:solidFill>
              </a:rPr>
              <a:t>未命中主导热点</a:t>
            </a:r>
            <a:endParaRPr sz="1600" b="1" i="0" u="none">
              <a:solidFill>
                <a:srgbClr val="002A57"/>
              </a:solidFill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003366"/>
                </a:solidFill>
              </a:rPr>
              <a:t>局部 helper 或边界内联触达的是次级热点，改动无法改变 benchmark 总分。</a:t>
            </a:r>
            <a:endParaRPr sz="1250" b="0" i="0" u="none">
              <a:solidFill>
                <a:srgbClr val="003366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66744" y="1792224"/>
            <a:ext cx="2697480" cy="1554480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 u="none">
                <a:solidFill>
                  <a:srgbClr val="002A57"/>
                </a:solidFill>
              </a:rPr>
              <a:t>全局副作用放大</a:t>
            </a:r>
            <a:endParaRPr sz="1600" b="1" i="0" u="none">
              <a:solidFill>
                <a:srgbClr val="002A57"/>
              </a:solidFill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003366"/>
                </a:solidFill>
              </a:rPr>
              <a:t>增加编译、代码体积或调度负担，却没有回收到等价收益。</a:t>
            </a:r>
            <a:endParaRPr sz="1250" b="0" i="0" u="none">
              <a:solidFill>
                <a:srgbClr val="00336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28816" y="1792224"/>
            <a:ext cx="2697480" cy="1554480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 u="none">
                <a:solidFill>
                  <a:srgbClr val="002A57"/>
                </a:solidFill>
              </a:rPr>
              <a:t>与生命周期不匹配</a:t>
            </a:r>
            <a:endParaRPr sz="1600" b="1" i="0" u="none">
              <a:solidFill>
                <a:srgbClr val="002A57"/>
              </a:solidFill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003366"/>
                </a:solidFill>
              </a:rPr>
              <a:t>短生命周期 workload 下，很多看似合理的优化来不及兑现为稳定收益。</a:t>
            </a:r>
            <a:endParaRPr sz="1250" b="0" i="0" u="none">
              <a:solidFill>
                <a:srgbClr val="00336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41248" y="3767328"/>
            <a:ext cx="4343400" cy="1371600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 u="none">
                <a:solidFill>
                  <a:srgbClr val="002A57"/>
                </a:solidFill>
              </a:rPr>
              <a:t>典型反例一：optimize_threshold 调整</a:t>
            </a:r>
            <a:endParaRPr sz="1500" b="1" i="0" u="none">
              <a:solidFill>
                <a:srgbClr val="002A57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003366"/>
                </a:solidFill>
              </a:rPr>
              <a:t>只加快第二层优化编译，但第一层基线 JIT 仍然进得太晚，所以 pmd 和 mpegaudio 都没有兑现收益。</a:t>
            </a:r>
            <a:endParaRPr sz="1250" b="0" i="0" u="none">
              <a:solidFill>
                <a:srgbClr val="003366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77840" y="3767328"/>
            <a:ext cx="3931920" cy="1371600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 u="none">
                <a:solidFill>
                  <a:srgbClr val="002A57"/>
                </a:solidFill>
              </a:rPr>
              <a:t>典型反例二：Memcpy / 原始数组批量搬运</a:t>
            </a:r>
            <a:endParaRPr sz="1500" b="1" i="0" u="none">
              <a:solidFill>
                <a:srgbClr val="002A57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003366"/>
                </a:solidFill>
              </a:rPr>
              <a:t>命中的是次级搬运热点，局部更快不足以抵消额外代码体积与调度扰动。</a:t>
            </a:r>
            <a:endParaRPr sz="1250" b="0" i="0" u="none">
              <a:solidFill>
                <a:srgbClr val="003366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41248" y="5486400"/>
            <a:ext cx="8732520" cy="384048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 u="none">
                <a:solidFill>
                  <a:srgbClr val="002A57"/>
                </a:solidFill>
              </a:rPr>
              <a:t>因此，正式方案筛选不是找“任何能提分的 patch”，而是找真正命中主导热点、且副作用可控的改动。</a:t>
            </a:r>
            <a:endParaRPr sz="1300" b="1" i="0" u="none">
              <a:solidFill>
                <a:srgbClr val="002A5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002A57"/>
                </a:solidFill>
              </a:rPr>
              <a:t>四、总结与展望</a:t>
            </a:r>
            <a:endParaRPr sz="3000" b="1" i="0" u="none">
              <a:solidFill>
                <a:srgbClr val="002A57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 u="none">
                <a:solidFill>
                  <a:srgbClr val="5B6470"/>
                </a:solidFill>
              </a:rPr>
              <a:t>论文结论、方法价值与后续工作</a:t>
            </a:r>
            <a:endParaRPr sz="1800" b="0" i="0" u="none">
              <a:solidFill>
                <a:srgbClr val="5B647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总结与展望</a:t>
            </a:r>
            <a:endParaRPr sz="2800" b="1" i="0" u="none">
              <a:solidFill>
                <a:srgbClr val="003366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 u="none">
                <a:solidFill>
                  <a:srgbClr val="002A57"/>
                </a:solidFill>
              </a:rPr>
              <a:t>论文主结论</a:t>
            </a:r>
            <a:endParaRPr sz="1900" b="1" i="0" u="none">
              <a:solidFill>
                <a:srgbClr val="002A57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 tIns="91440" bIns="9144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AOSP 15 ART 在 LoongArch 平台上的执行引擎适配是可行的。</a:t>
            </a:r>
            <a:endParaRPr sz="1600" b="0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统一验证链路与固定 baseline 是性能研究具备解释价值的前提。</a:t>
            </a:r>
            <a:endParaRPr sz="1600" b="0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只有命中主导热点、边界清晰且可复现的方案才值得保留。</a:t>
            </a:r>
            <a:endParaRPr sz="1600" b="0" i="0" u="none">
              <a:solidFill>
                <a:srgbClr val="003366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 u="none">
                <a:solidFill>
                  <a:srgbClr val="002A57"/>
                </a:solidFill>
              </a:rPr>
              <a:t>后续工作</a:t>
            </a:r>
            <a:endParaRPr sz="1900" b="1" i="0" u="none">
              <a:solidFill>
                <a:srgbClr val="002A57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 wrap="square" tIns="91440" bIns="9144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完善 AOT / 安装期编译支持。</a:t>
            </a:r>
            <a:endParaRPr sz="1600" b="0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扩展 LSX / LASX 能力与更高层门控。</a:t>
            </a:r>
            <a:endParaRPr sz="1600" b="0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引入更多 benchmark 与应用级验证。</a:t>
            </a:r>
            <a:endParaRPr sz="1600" b="0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增强低扰动观测与运行时因果分析。</a:t>
            </a:r>
            <a:endParaRPr sz="1600" b="0" i="0" u="none">
              <a:solidFill>
                <a:srgbClr val="003366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41248" y="5596128"/>
            <a:ext cx="8732520" cy="347472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 u="none">
                <a:solidFill>
                  <a:srgbClr val="002A57"/>
                </a:solidFill>
              </a:rPr>
              <a:t>本文的核心产出不仅是工程闭环，更是“什么值得保留、为什么成立、边界在哪里”的研究方法。</a:t>
            </a:r>
            <a:endParaRPr sz="1300" b="1" i="0" u="none">
              <a:solidFill>
                <a:srgbClr val="002A5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002A57"/>
                </a:solidFill>
              </a:rPr>
              <a:t>感谢聆听！</a:t>
            </a:r>
            <a:endParaRPr sz="3000" b="1" i="0" u="none">
              <a:solidFill>
                <a:srgbClr val="002A57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 u="none">
                <a:solidFill>
                  <a:srgbClr val="003366"/>
                </a:solidFill>
              </a:rPr>
              <a:t>请各位老师批评指正</a:t>
            </a:r>
            <a:endParaRPr sz="2000" b="1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5B6470"/>
                </a:solidFill>
              </a:rPr>
              <a:t>Q&amp;A</a:t>
            </a:r>
            <a:endParaRPr sz="1600" b="0" i="0" u="none">
              <a:solidFill>
                <a:srgbClr val="5B647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稳定</a:t>
            </a:r>
            <a:r>
              <a:rPr lang="zh-CN" sz="2800" b="1" i="0" u="none">
                <a:solidFill>
                  <a:srgbClr val="003366"/>
                </a:solidFill>
              </a:rPr>
              <a:t>性也很重要</a:t>
            </a:r>
            <a:r>
              <a:rPr sz="2800" b="1" i="0" u="none">
                <a:solidFill>
                  <a:srgbClr val="003366"/>
                </a:solidFill>
              </a:rPr>
              <a:t>：LSX 浮点 SIMD 向量化</a:t>
            </a:r>
            <a:endParaRPr sz="2800" b="1" i="0" u="none">
              <a:solidFill>
                <a:srgbClr val="00336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8096" y="1847088"/>
            <a:ext cx="4160520" cy="3840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 u="none">
                <a:solidFill>
                  <a:srgbClr val="002A57"/>
                </a:solidFill>
              </a:rPr>
              <a:t>LSX 浮点 SIMD 是当前唯一同时满足收益、解释性与复现性的正式方案。</a:t>
            </a:r>
            <a:endParaRPr sz="1500" b="1" i="0" u="none">
              <a:solidFill>
                <a:srgbClr val="002A57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补齐 float32/float64 的核心 lowering，直接命中 lu.small 主热点。</a:t>
            </a:r>
            <a:endParaRPr sz="1600" b="0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正式单次结果：46.22 → 66.74 ops/m，增益 +44.40%。</a:t>
            </a:r>
            <a:endParaRPr sz="1600" b="0" i="0" u="none">
              <a:solidFill>
                <a:srgbClr val="003366"/>
              </a:solidFill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同日 3 轮复测均值 +45.70%，标准差仅 0.50 ops/m。</a:t>
            </a:r>
            <a:endParaRPr sz="1600" b="0" i="0" u="none">
              <a:solidFill>
                <a:srgbClr val="003366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5084064"/>
            <a:ext cx="1755648" cy="694944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u="none">
                <a:solidFill>
                  <a:srgbClr val="003366"/>
                </a:solidFill>
              </a:rPr>
              <a:t>单次增益</a:t>
            </a:r>
            <a:endParaRPr sz="1300" b="1" i="0" u="none">
              <a:solidFill>
                <a:srgbClr val="003366"/>
              </a:solidFill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 u="none">
                <a:solidFill>
                  <a:srgbClr val="002A57"/>
                </a:solidFill>
              </a:rPr>
              <a:t>+44.40%</a:t>
            </a:r>
            <a:endParaRPr sz="2000" b="1" i="0" u="none">
              <a:solidFill>
                <a:srgbClr val="002A57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88920" y="5084064"/>
            <a:ext cx="1920240" cy="694944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u="none">
                <a:solidFill>
                  <a:srgbClr val="003366"/>
                </a:solidFill>
              </a:rPr>
              <a:t>复测均值</a:t>
            </a:r>
            <a:endParaRPr sz="1300" b="1" i="0" u="none">
              <a:solidFill>
                <a:srgbClr val="003366"/>
              </a:solidFill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 u="none">
                <a:solidFill>
                  <a:srgbClr val="002A57"/>
                </a:solidFill>
              </a:rPr>
              <a:t>+45.70%</a:t>
            </a:r>
            <a:endParaRPr sz="2000" b="1" i="0" u="none">
              <a:solidFill>
                <a:srgbClr val="002A57"/>
              </a:solidFill>
            </a:endParaRPr>
          </a:p>
        </p:txBody>
      </p:sp>
      <p:pic>
        <p:nvPicPr>
          <p:cNvPr id="8" name="Picture 7" descr="statistical-validation-strippl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785" y="2391410"/>
            <a:ext cx="5908040" cy="258826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1ebeca6c-6250-4f9f-b765-391e52f62e4f"/>
  <p:tag name="COMMONDATA" val="eyJoZGlkIjoiMzMxNWMxYTNlYWE2MmM4MzRiOTk2YzFkNzgwOTY2MjcifQ=="/>
</p:tagLst>
</file>

<file path=ppt/theme/theme1.xml><?xml version="1.0" encoding="utf-8"?>
<a:theme xmlns:a="http://schemas.openxmlformats.org/drawingml/2006/main" name="PPT模板2">
  <a:themeElements>
    <a:clrScheme name="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7"/>
      </a:accent4>
      <a:accent5>
        <a:srgbClr val="CAE2CA"/>
      </a:accent5>
      <a:accent6>
        <a:srgbClr val="2DB7B7"/>
      </a:accent6>
      <a:hlink>
        <a:srgbClr val="666699"/>
      </a:hlink>
      <a:folHlink>
        <a:srgbClr val="CC99FF"/>
      </a:folHlink>
    </a:clrScheme>
    <a:fontScheme name="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EB"/>
        </a:dk1>
        <a:lt1>
          <a:srgbClr val="336699"/>
        </a:lt1>
        <a:dk2>
          <a:srgbClr val="FFFFEB"/>
        </a:dk2>
        <a:lt2>
          <a:srgbClr val="000066"/>
        </a:lt2>
        <a:accent1>
          <a:srgbClr val="666699"/>
        </a:accent1>
        <a:accent2>
          <a:srgbClr val="99CCFF"/>
        </a:accent2>
        <a:accent3>
          <a:srgbClr val="ADB9CA"/>
        </a:accent3>
        <a:accent4>
          <a:srgbClr val="DCDCCA"/>
        </a:accent4>
        <a:accent5>
          <a:srgbClr val="B9B9CA"/>
        </a:accent5>
        <a:accent6>
          <a:srgbClr val="89B7E5"/>
        </a:accent6>
        <a:hlink>
          <a:srgbClr val="CCCCFF"/>
        </a:hlink>
        <a:folHlink>
          <a:srgbClr val="C68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7"/>
        </a:accent4>
        <a:accent5>
          <a:srgbClr val="CAE2CA"/>
        </a:accent5>
        <a:accent6>
          <a:srgbClr val="2DB7B7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27272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2DB7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CPU中心2014年总结v3.0</Template>
  <TotalTime>0</TotalTime>
  <Words>2880</Words>
  <Application>WPS 演示</Application>
  <PresentationFormat>自定义</PresentationFormat>
  <Paragraphs>222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Arial</vt:lpstr>
      <vt:lpstr>宋体</vt:lpstr>
      <vt:lpstr>Wingdings</vt:lpstr>
      <vt:lpstr>汉仪书宋二KW</vt:lpstr>
      <vt:lpstr>楷体_GB2312</vt:lpstr>
      <vt:lpstr>Times New Roman</vt:lpstr>
      <vt:lpstr>微软雅黑</vt:lpstr>
      <vt:lpstr>Tahoma</vt:lpstr>
      <vt:lpstr>阿里巴巴普惠体 R</vt:lpstr>
      <vt:lpstr>黑体</vt:lpstr>
      <vt:lpstr>汉仪中黑KW</vt:lpstr>
      <vt:lpstr>汉仪楷体简</vt:lpstr>
      <vt:lpstr>宋体</vt:lpstr>
      <vt:lpstr>Arial Unicode MS</vt:lpstr>
      <vt:lpstr>苹方-简</vt:lpstr>
      <vt:lpstr>楷体_GB2312</vt:lpstr>
      <vt:lpstr>PPT模板2</vt:lpstr>
      <vt:lpstr>基于LoongArch架构的ART执行引擎
适配与优化技术研究</vt:lpstr>
      <vt:lpstr>答辩提纲</vt:lpstr>
      <vt:lpstr>答辩提纲</vt:lpstr>
      <vt:lpstr>问题定义与主要贡献</vt:lpstr>
      <vt:lpstr>整体研究路线</vt:lpstr>
      <vt:lpstr>二、执行引擎适配与验证</vt:lpstr>
      <vt:lpstr>适配工作</vt:lpstr>
      <vt:lpstr>执行引擎适配的系统闭环</vt:lpstr>
      <vt:lpstr>正确性验证结果</vt:lpstr>
      <vt:lpstr>三、性能优化研究</vt:lpstr>
      <vt:lpstr>主体架构</vt:lpstr>
      <vt:lpstr>基于缓存局部性的数据结构优化</vt:lpstr>
      <vt:lpstr>Dex验证器的优化结果总览</vt:lpstr>
      <vt:lpstr>三项正收益方案：基本原理</vt:lpstr>
      <vt:lpstr>三项正式方案的单次结果总览</vt:lpstr>
      <vt:lpstr>完整SIMD性能提升</vt:lpstr>
      <vt:lpstr>失败方案为什么失败</vt:lpstr>
      <vt:lpstr>四、总结与展望</vt:lpstr>
      <vt:lpstr>总结与展望</vt:lpstr>
      <vt:lpstr>感谢聆听！</vt:lpstr>
      <vt:lpstr>稳定性也很重要：LSX 浮点 SIMD 向量化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基于LoongArch架构的ART执行引擎适配与优化技术研究</dc:title>
  <dc:creator>Yanxi</dc:creator>
  <dc:subject>硕士毕业论文答辩</dc:subject>
  <cp:lastModifiedBy>  </cp:lastModifiedBy>
  <cp:revision>903</cp:revision>
  <dcterms:created xsi:type="dcterms:W3CDTF">2026-05-12T02:02:00Z</dcterms:created>
  <dcterms:modified xsi:type="dcterms:W3CDTF">2026-05-12T02:02:00Z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/>
  </property>
</Properties>
</file>