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0946130" cy="6858000"/>
  <p:notesSz cx="6858000" cy="9144000"/>
  <p:custDataLst>
    <p:tags r:id="rId2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50000"/>
      </a:spcBef>
      <a:spcAft>
        <a:spcPct val="0"/>
      </a:spcAft>
      <a:buNone/>
      <a:defRPr b="1" i="0" u="none" kern="1200" baseline="0">
        <a:solidFill>
          <a:srgbClr val="000000"/>
        </a:solidFill>
        <a:latin typeface="Arial" panose="020B060402020209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0" userDrawn="1">
          <p15:clr>
            <a:srgbClr val="A4A3A4"/>
          </p15:clr>
        </p15:guide>
        <p15:guide id="2" pos="36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/>
  <p:cmAuthor id="2" name="Athene" initials="A" lastIdx="2" clrIdx="1"/>
  <p:cmAuthor id="3" name="Microsoft Office User" initials="M" lastIdx="1" clrIdx="2"/>
  <p:cmAuthor id="4" name="loongson" initials="l" lastIdx="19" clrIdx="3"/>
  <p:cmAuthor id="5" name=" " initials=" " lastIdx="1" clrIdx="3"/>
  <p:cmAuthor id="6" name="liulili" initials="l" lastIdx="13" clrIdx="5"/>
  <p:cmAuthor id="7" name="WenWen" initials="W" lastIdx="1" clrIdx="6"/>
  <p:cmAuthor id="8" name="姜伟光" initials="姜" lastIdx="1" clrIdx="0"/>
  <p:cmAuthor id="9" name="宋洁然" initials="宋" lastIdx="2" clrIdx="1"/>
  <p:cmAuthor id="10" name="ming qiu" initials="m" lastIdx="17" clrIdx="1"/>
  <p:cmAuthor id="18" name="robin.song" initials="r [3]" lastIdx="1" clrIdx="17"/>
  <p:cmAuthor id="21" name="Microsoft Office 用户" initials="Office [10]" lastIdx="1" clrIdx="2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howGuides="1">
      <p:cViewPr varScale="1">
        <p:scale>
          <a:sx n="74" d="100"/>
          <a:sy n="74" d="100"/>
        </p:scale>
        <p:origin x="-96" y="-210"/>
      </p:cViewPr>
      <p:guideLst>
        <p:guide orient="horz" pos="2040"/>
        <p:guide pos="363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5" cy="72005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ableStyles" Target="tableStyles.xml"/><Relationship Id="rId27" Type="http://schemas.openxmlformats.org/officeDocument/2006/relationships/commentAuthors" Target="commentAuthors.xml"/><Relationship Id="rId28" Type="http://schemas.openxmlformats.org/officeDocument/2006/relationships/tags" Target="tags/tag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23906" name="页眉占位符 12390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123907" name="日期占位符 123906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 algn="r" fontAlgn="base"/>
            <a:endParaRPr lang="zh-CN" altLang="en-US" sz="1200" b="0" strike="noStrike" noProof="1" dirty="0"/>
          </a:p>
        </p:txBody>
      </p:sp>
      <p:sp>
        <p:nvSpPr>
          <p:cNvPr id="58372" name="幻灯片图像占位符 123907"/>
          <p:cNvSpPr>
            <a:spLocks noRot="1" noTextEdit="1"/>
          </p:cNvSpPr>
          <p:nvPr>
            <p:ph type="sldImg"/>
          </p:nvPr>
        </p:nvSpPr>
        <p:spPr>
          <a:xfrm>
            <a:off x="693738" y="685800"/>
            <a:ext cx="5470525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8373" name="文本占位符 123908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23910" name="页脚占位符 123909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fontAlgn="base"/>
            <a:endParaRPr lang="zh-CN" altLang="en-US" sz="1200" b="0" strike="noStrike" noProof="1" dirty="0"/>
          </a:p>
        </p:txBody>
      </p:sp>
      <p:sp>
        <p:nvSpPr>
          <p:cNvPr id="123911" name="灯片编号占位符 123910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fontAlgn="base"/>
            <a:fld id="{9A0DB2DC-4C9A-4742-B13C-FB6460FD3503}" type="slidenum">
              <a:rPr lang="zh-CN" altLang="en-US" sz="1200" b="0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z="1200" b="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90204" pitchFamily="34" charset="0"/>
        <a:ea typeface="宋体" pitchFamily="2" charset="-122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p>
            <a:r>
              <a:rPr lang="zh-CN" altLang="en-US" dirty="0">
                <a:sym typeface="+mn-ea"/>
              </a:rPr>
              <a:t>各位老师大家早上好，我是鄢玺，我的指导老师是张福新</a:t>
            </a:r>
            <a:r>
              <a:rPr lang="zh-CN" altLang="en-US" dirty="0">
                <a:sym typeface="+mn-ea"/>
              </a:rPr>
              <a:t>老师，我的毕业设计的开题题目是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svg"/><Relationship Id="rId6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>
  <p:cSld name="标题幻灯片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1506" name="副标题 21505"/>
          <p:cNvSpPr>
            <a:spLocks noGrp="1"/>
          </p:cNvSpPr>
          <p:nvPr>
            <p:ph type="subTitle" idx="1"/>
          </p:nvPr>
        </p:nvSpPr>
        <p:spPr>
          <a:xfrm>
            <a:off x="1550988" y="4038600"/>
            <a:ext cx="8423275" cy="711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0" lvl="0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1pPr>
            <a:lvl2pPr marL="457200" lvl="1" indent="0" algn="ctr">
              <a:buClr>
                <a:srgbClr val="000000"/>
              </a:buClr>
              <a:buSzTx/>
              <a:buFontTx/>
              <a:buNone/>
              <a:defRPr>
                <a:solidFill>
                  <a:schemeClr val="bg1"/>
                </a:solidFill>
              </a:defRPr>
            </a:lvl2pPr>
            <a:lvl3pPr marL="914400" lvl="2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3pPr>
            <a:lvl4pPr marL="1371600" lvl="3" indent="0" algn="ctr">
              <a:buClr>
                <a:srgbClr val="000000"/>
              </a:buClr>
              <a:buSzTx/>
              <a:buFontTx/>
              <a:buNone/>
              <a:defRPr>
                <a:solidFill>
                  <a:schemeClr val="bg1"/>
                </a:solidFill>
              </a:defRPr>
            </a:lvl4pPr>
            <a:lvl5pPr marL="1828800" lvl="4" indent="0" algn="ctr">
              <a:buClr>
                <a:srgbClr val="000000"/>
              </a:buClr>
              <a:buSzTx/>
              <a:buFont typeface="Wingdings" panose="05000000000000000000" pitchFamily="2" charset="2"/>
              <a:buNone/>
              <a:defRPr>
                <a:solidFill>
                  <a:schemeClr val="bg1"/>
                </a:solidFill>
              </a:defRPr>
            </a:lvl5pPr>
          </a:lstStyle>
          <a:p>
            <a:pPr lvl="0" fontAlgn="base"/>
            <a:r>
              <a:rPr lang="zh-CN" altLang="en-US" strike="noStrike" noProof="1" dirty="0"/>
              <a:t>单击此处编辑母版副标题样式</a:t>
            </a:r>
            <a:endParaRPr lang="zh-CN" altLang="en-US" strike="noStrike" noProof="1" dirty="0"/>
          </a:p>
        </p:txBody>
      </p:sp>
      <p:sp>
        <p:nvSpPr>
          <p:cNvPr id="21510" name="标题 21509"/>
          <p:cNvSpPr>
            <a:spLocks noGrp="1"/>
          </p:cNvSpPr>
          <p:nvPr>
            <p:ph type="ctrTitle" sz="quarter"/>
          </p:nvPr>
        </p:nvSpPr>
        <p:spPr>
          <a:xfrm>
            <a:off x="1095375" y="1524000"/>
            <a:ext cx="930275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>
            <a:lvl1pPr lvl="0" algn="ctr">
              <a:defRPr>
                <a:solidFill>
                  <a:schemeClr val="bg1"/>
                </a:solidFill>
              </a:defRPr>
            </a:lvl1pPr>
          </a:lstStyle>
          <a:p>
            <a:pPr lvl="0" fontAlgn="base"/>
            <a:r>
              <a:rPr lang="zh-CN" altLang="en-US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21507" name="日期占位符 21506"/>
          <p:cNvSpPr>
            <a:spLocks noGrp="1"/>
          </p:cNvSpPr>
          <p:nvPr>
            <p:ph type="dt" sz="quarter" idx="2"/>
          </p:nvPr>
        </p:nvSpPr>
        <p:spPr>
          <a:xfrm>
            <a:off x="3192463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1508" name="页脚占位符 21507"/>
          <p:cNvSpPr>
            <a:spLocks noGrp="1"/>
          </p:cNvSpPr>
          <p:nvPr>
            <p:ph type="ftr" sz="quarter" idx="3"/>
          </p:nvPr>
        </p:nvSpPr>
        <p:spPr>
          <a:xfrm>
            <a:off x="6219825" y="6553200"/>
            <a:ext cx="392588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1509" name="灯片编号占位符 21508"/>
          <p:cNvSpPr>
            <a:spLocks noGrp="1"/>
          </p:cNvSpPr>
          <p:nvPr>
            <p:ph type="sldNum" sz="quarter" idx="4"/>
          </p:nvPr>
        </p:nvSpPr>
        <p:spPr>
          <a:xfrm>
            <a:off x="12700" y="6359525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46845" y="1709738"/>
            <a:ext cx="9441037" cy="2852737"/>
          </a:xfrm>
        </p:spPr>
        <p:txBody>
          <a:bodyPr anchor="b"/>
          <a:lstStyle>
            <a:lvl1pPr>
              <a:defRPr sz="5385"/>
            </a:lvl1pPr>
          </a:lstStyle>
          <a:p>
            <a:pPr fontAlgn="base"/>
            <a:r>
              <a:rPr lang="zh-CN" altLang="en-US" sz="538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46845" y="4589463"/>
            <a:ext cx="9441037" cy="1500187"/>
          </a:xfrm>
        </p:spPr>
        <p:txBody>
          <a:bodyPr/>
          <a:lstStyle>
            <a:lvl1pPr marL="0" indent="0">
              <a:buNone/>
              <a:defRPr sz="2155">
                <a:solidFill>
                  <a:schemeClr val="tx1">
                    <a:tint val="75000"/>
                  </a:schemeClr>
                </a:solidFill>
              </a:defRPr>
            </a:lvl1pPr>
            <a:lvl2pPr marL="41021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821055" indent="0">
              <a:buNone/>
              <a:defRPr sz="1615">
                <a:solidFill>
                  <a:schemeClr val="tx1">
                    <a:tint val="75000"/>
                  </a:schemeClr>
                </a:solidFill>
              </a:defRPr>
            </a:lvl3pPr>
            <a:lvl4pPr marL="123126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4pPr>
            <a:lvl5pPr marL="1642110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5pPr>
            <a:lvl6pPr marL="2052320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6pPr>
            <a:lvl7pPr marL="246316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7pPr>
            <a:lvl8pPr marL="287337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8pPr>
            <a:lvl9pPr marL="3283585" indent="0">
              <a:buNone/>
              <a:defRPr sz="143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215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19150" y="1697038"/>
            <a:ext cx="4692142" cy="41798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02808" y="1697038"/>
            <a:ext cx="4692142" cy="4179887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365125"/>
            <a:ext cx="9441037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5501" y="1778438"/>
            <a:ext cx="4375556" cy="823912"/>
          </a:xfrm>
        </p:spPr>
        <p:txBody>
          <a:bodyPr anchor="ctr" anchorCtr="0"/>
          <a:lstStyle>
            <a:lvl1pPr marL="0" indent="0">
              <a:buNone/>
              <a:defRPr sz="2515"/>
            </a:lvl1pPr>
            <a:lvl2pPr marL="410210" indent="0">
              <a:buNone/>
              <a:defRPr sz="2155"/>
            </a:lvl2pPr>
            <a:lvl3pPr marL="821055" indent="0">
              <a:buNone/>
              <a:defRPr sz="1795"/>
            </a:lvl3pPr>
            <a:lvl4pPr marL="1231265" indent="0">
              <a:buNone/>
              <a:defRPr sz="1615"/>
            </a:lvl4pPr>
            <a:lvl5pPr marL="1642110" indent="0">
              <a:buNone/>
              <a:defRPr sz="1615"/>
            </a:lvl5pPr>
            <a:lvl6pPr marL="2052320" indent="0">
              <a:buNone/>
              <a:defRPr sz="1615"/>
            </a:lvl6pPr>
            <a:lvl7pPr marL="2463165" indent="0">
              <a:buNone/>
              <a:defRPr sz="1615"/>
            </a:lvl7pPr>
            <a:lvl8pPr marL="2873375" indent="0">
              <a:buNone/>
              <a:defRPr sz="1615"/>
            </a:lvl8pPr>
            <a:lvl9pPr marL="3283585" indent="0">
              <a:buNone/>
              <a:defRPr sz="1615"/>
            </a:lvl9pPr>
          </a:lstStyle>
          <a:p>
            <a:pPr lvl="0" fontAlgn="base"/>
            <a:r>
              <a:rPr lang="zh-CN" altLang="en-US" sz="25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065501" y="2665379"/>
            <a:ext cx="4375556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17557" y="1778438"/>
            <a:ext cx="4397105" cy="823912"/>
          </a:xfrm>
        </p:spPr>
        <p:txBody>
          <a:bodyPr anchor="ctr" anchorCtr="0"/>
          <a:lstStyle>
            <a:lvl1pPr marL="0" indent="0">
              <a:buNone/>
              <a:defRPr sz="2515"/>
            </a:lvl1pPr>
            <a:lvl2pPr marL="410210" indent="0">
              <a:buNone/>
              <a:defRPr sz="2155"/>
            </a:lvl2pPr>
            <a:lvl3pPr marL="821055" indent="0">
              <a:buNone/>
              <a:defRPr sz="1795"/>
            </a:lvl3pPr>
            <a:lvl4pPr marL="1231265" indent="0">
              <a:buNone/>
              <a:defRPr sz="1615"/>
            </a:lvl4pPr>
            <a:lvl5pPr marL="1642110" indent="0">
              <a:buNone/>
              <a:defRPr sz="1615"/>
            </a:lvl5pPr>
            <a:lvl6pPr marL="2052320" indent="0">
              <a:buNone/>
              <a:defRPr sz="1615"/>
            </a:lvl6pPr>
            <a:lvl7pPr marL="2463165" indent="0">
              <a:buNone/>
              <a:defRPr sz="1615"/>
            </a:lvl7pPr>
            <a:lvl8pPr marL="2873375" indent="0">
              <a:buNone/>
              <a:defRPr sz="1615"/>
            </a:lvl8pPr>
            <a:lvl9pPr marL="3283585" indent="0">
              <a:buNone/>
              <a:defRPr sz="1615"/>
            </a:lvl9pPr>
          </a:lstStyle>
          <a:p>
            <a:pPr lvl="0" fontAlgn="base"/>
            <a:r>
              <a:rPr lang="zh-CN" altLang="en-US" sz="251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17557" y="2665379"/>
            <a:ext cx="4397105" cy="3524284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457200"/>
            <a:ext cx="3530412" cy="1600200"/>
          </a:xfrm>
        </p:spPr>
        <p:txBody>
          <a:bodyPr anchor="b"/>
          <a:lstStyle>
            <a:lvl1pPr>
              <a:defRPr sz="2875"/>
            </a:lvl1pPr>
          </a:lstStyle>
          <a:p>
            <a:pPr fontAlgn="base"/>
            <a:r>
              <a:rPr lang="zh-CN" altLang="en-US" sz="287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53531" y="987425"/>
            <a:ext cx="5541478" cy="4873625"/>
          </a:xfrm>
        </p:spPr>
        <p:txBody>
          <a:bodyPr/>
          <a:lstStyle>
            <a:lvl1pPr>
              <a:defRPr sz="2875"/>
            </a:lvl1pPr>
            <a:lvl2pPr>
              <a:defRPr sz="2515"/>
            </a:lvl2pPr>
            <a:lvl3pPr>
              <a:defRPr sz="2155"/>
            </a:lvl3pPr>
            <a:lvl4pPr>
              <a:defRPr sz="1795"/>
            </a:lvl4pPr>
            <a:lvl5pPr>
              <a:defRPr sz="1795"/>
            </a:lvl5pPr>
            <a:lvl6pPr>
              <a:defRPr sz="1795"/>
            </a:lvl6pPr>
            <a:lvl7pPr>
              <a:defRPr sz="1795"/>
            </a:lvl7pPr>
            <a:lvl8pPr>
              <a:defRPr sz="1795"/>
            </a:lvl8pPr>
            <a:lvl9pPr>
              <a:defRPr sz="1795"/>
            </a:lvl9pPr>
          </a:lstStyle>
          <a:p>
            <a:pPr lvl="0" fontAlgn="base"/>
            <a:r>
              <a:rPr lang="zh-CN" altLang="en-US" sz="2875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z="2515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z="2155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z="1795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z="1795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972" y="2057400"/>
            <a:ext cx="3530412" cy="3811588"/>
          </a:xfrm>
        </p:spPr>
        <p:txBody>
          <a:bodyPr/>
          <a:lstStyle>
            <a:lvl1pPr marL="0" indent="0">
              <a:buNone/>
              <a:defRPr sz="1435"/>
            </a:lvl1pPr>
            <a:lvl2pPr marL="410210" indent="0">
              <a:buNone/>
              <a:defRPr sz="1255"/>
            </a:lvl2pPr>
            <a:lvl3pPr marL="821055" indent="0">
              <a:buNone/>
              <a:defRPr sz="1075"/>
            </a:lvl3pPr>
            <a:lvl4pPr marL="1231265" indent="0">
              <a:buNone/>
              <a:defRPr sz="900"/>
            </a:lvl4pPr>
            <a:lvl5pPr marL="1642110" indent="0">
              <a:buNone/>
              <a:defRPr sz="900"/>
            </a:lvl5pPr>
            <a:lvl6pPr marL="2052320" indent="0">
              <a:buNone/>
              <a:defRPr sz="900"/>
            </a:lvl6pPr>
            <a:lvl7pPr marL="2463165" indent="0">
              <a:buNone/>
              <a:defRPr sz="900"/>
            </a:lvl7pPr>
            <a:lvl8pPr marL="2873375" indent="0">
              <a:buNone/>
              <a:defRPr sz="900"/>
            </a:lvl8pPr>
            <a:lvl9pPr marL="3283585" indent="0">
              <a:buNone/>
              <a:defRPr sz="900"/>
            </a:lvl9pPr>
          </a:lstStyle>
          <a:p>
            <a:pPr lvl="0" fontAlgn="base"/>
            <a:r>
              <a:rPr lang="zh-CN" altLang="en-US" sz="143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3972" y="457200"/>
            <a:ext cx="3739702" cy="1600200"/>
          </a:xfrm>
        </p:spPr>
        <p:txBody>
          <a:bodyPr anchor="b"/>
          <a:lstStyle>
            <a:lvl1pPr>
              <a:defRPr sz="2875"/>
            </a:lvl1pPr>
          </a:lstStyle>
          <a:p>
            <a:pPr fontAlgn="base"/>
            <a:r>
              <a:rPr lang="zh-CN" altLang="en-US" sz="2875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3531" y="457201"/>
            <a:ext cx="5541478" cy="5403850"/>
          </a:xfrm>
        </p:spPr>
        <p:txBody>
          <a:bodyPr/>
          <a:lstStyle>
            <a:lvl1pPr marL="0" indent="0">
              <a:buNone/>
              <a:defRPr sz="2875"/>
            </a:lvl1pPr>
            <a:lvl2pPr marL="410210" indent="0">
              <a:buNone/>
              <a:defRPr sz="2515"/>
            </a:lvl2pPr>
            <a:lvl3pPr marL="821055" indent="0">
              <a:buNone/>
              <a:defRPr sz="2155"/>
            </a:lvl3pPr>
            <a:lvl4pPr marL="1231265" indent="0">
              <a:buNone/>
              <a:defRPr sz="1795"/>
            </a:lvl4pPr>
            <a:lvl5pPr marL="1642110" indent="0">
              <a:buNone/>
              <a:defRPr sz="1795"/>
            </a:lvl5pPr>
            <a:lvl6pPr marL="2052320" indent="0">
              <a:buNone/>
              <a:defRPr sz="1795"/>
            </a:lvl6pPr>
            <a:lvl7pPr marL="2463165" indent="0">
              <a:buNone/>
              <a:defRPr sz="1795"/>
            </a:lvl7pPr>
            <a:lvl8pPr marL="2873375" indent="0">
              <a:buNone/>
              <a:defRPr sz="1795"/>
            </a:lvl8pPr>
            <a:lvl9pPr marL="3283585" indent="0">
              <a:buNone/>
              <a:defRPr sz="1795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53972" y="2057400"/>
            <a:ext cx="3739702" cy="3811588"/>
          </a:xfrm>
        </p:spPr>
        <p:txBody>
          <a:bodyPr/>
          <a:lstStyle>
            <a:lvl1pPr marL="0" indent="0">
              <a:buNone/>
              <a:defRPr sz="1795"/>
            </a:lvl1pPr>
            <a:lvl2pPr marL="410210" indent="0">
              <a:buNone/>
              <a:defRPr sz="1615"/>
            </a:lvl2pPr>
            <a:lvl3pPr marL="821055" indent="0">
              <a:buNone/>
              <a:defRPr sz="1435"/>
            </a:lvl3pPr>
            <a:lvl4pPr marL="1231265" indent="0">
              <a:buNone/>
              <a:defRPr sz="1255"/>
            </a:lvl4pPr>
            <a:lvl5pPr marL="1642110" indent="0">
              <a:buNone/>
              <a:defRPr sz="1255"/>
            </a:lvl5pPr>
            <a:lvl6pPr marL="2052320" indent="0">
              <a:buNone/>
              <a:defRPr sz="1255"/>
            </a:lvl6pPr>
            <a:lvl7pPr marL="2463165" indent="0">
              <a:buNone/>
              <a:defRPr sz="1255"/>
            </a:lvl7pPr>
            <a:lvl8pPr marL="2873375" indent="0">
              <a:buNone/>
              <a:defRPr sz="1255"/>
            </a:lvl8pPr>
            <a:lvl9pPr marL="3283585" indent="0">
              <a:buNone/>
              <a:defRPr sz="1255"/>
            </a:lvl9pPr>
          </a:lstStyle>
          <a:p>
            <a:pPr lvl="0" fontAlgn="base"/>
            <a:r>
              <a:rPr lang="zh-CN" altLang="en-US" sz="1795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001000" y="53975"/>
            <a:ext cx="2393950" cy="582295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19150" y="53975"/>
            <a:ext cx="7043070" cy="582295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 preserve="1">
  <p:cSld name="标题，内容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2546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541478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标题和文本在内容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2546" y="1825625"/>
            <a:ext cx="9441037" cy="2098675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52546" y="4076700"/>
            <a:ext cx="9441037" cy="21002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752546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541478" y="1825625"/>
            <a:ext cx="4652105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/>
          <a:p>
            <a:pPr lvl="0" fontAlgn="base"/>
            <a:fld id="{9A0DB2DC-4C9A-4742-B13C-FB6460FD3503}" type="slidenum">
              <a:rPr lang="zh-CN" altLang="en-US" sz="2600" strike="noStrike" noProof="1" dirty="0">
                <a:solidFill>
                  <a:schemeClr val="bg1"/>
                </a:solidFill>
                <a:latin typeface="Arial" panose="020B0604020202090204" pitchFamily="34" charset="0"/>
                <a:ea typeface="楷体_GB2312" pitchFamily="49" charset="-122"/>
                <a:cs typeface="+mn-ea"/>
              </a:rPr>
            </a:fld>
            <a:endParaRPr lang="zh-CN" altLang="en-US" sz="2600" strike="noStrike" noProof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blipFill rotWithShape="0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0" y="1268413"/>
            <a:ext cx="8597900" cy="19050"/>
          </a:xfrm>
          <a:prstGeom prst="rect">
            <a:avLst/>
          </a:prstGeom>
          <a:gradFill flip="none" rotWithShape="1">
            <a:gsLst>
              <a:gs pos="50000">
                <a:srgbClr val="C00000"/>
              </a:gs>
              <a:gs pos="0">
                <a:schemeClr val="bg1"/>
              </a:gs>
            </a:gsLst>
            <a:lin ang="1080000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82095" tIns="41047" rIns="82095" bIns="4104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1615" b="0" i="0" u="none" strike="noStrike" cap="none" normalizeH="0" baseline="0" noProof="1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214891" y="634678"/>
            <a:ext cx="10602548" cy="562074"/>
          </a:xfrm>
          <a:prstGeom prst="rect">
            <a:avLst/>
          </a:prstGeom>
        </p:spPr>
        <p:txBody>
          <a:bodyPr/>
          <a:lstStyle>
            <a:lvl1pPr algn="l">
              <a:defRPr sz="2875" spc="100" baseline="0">
                <a:solidFill>
                  <a:srgbClr val="C00000"/>
                </a:solidFill>
                <a:latin typeface="Times New Roman" panose="02020503050405090304" charset="0"/>
                <a:ea typeface="微软雅黑" panose="020B0503020204020204" pitchFamily="34" charset="-122"/>
                <a:cs typeface="Times New Roman" panose="02020503050405090304" charset="0"/>
              </a:defRPr>
            </a:lvl1pPr>
          </a:lstStyle>
          <a:p>
            <a:pPr fontAlgn="base"/>
            <a:r>
              <a:rPr lang="zh-CN" altLang="en-US" sz="2875" strike="noStrike" noProof="1" dirty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自定义版式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直线"/>
          <p:cNvSpPr/>
          <p:nvPr/>
        </p:nvSpPr>
        <p:spPr>
          <a:xfrm>
            <a:off x="455613" y="1096963"/>
            <a:ext cx="10034587" cy="0"/>
          </a:xfrm>
          <a:prstGeom prst="line">
            <a:avLst/>
          </a:prstGeom>
          <a:ln w="76200" cap="flat" cmpd="sng">
            <a:solidFill>
              <a:srgbClr val="A50021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120" name="文本框"/>
          <p:cNvSpPr>
            <a:spLocks noGrp="1"/>
          </p:cNvSpPr>
          <p:nvPr>
            <p:ph type="title"/>
          </p:nvPr>
        </p:nvSpPr>
        <p:spPr>
          <a:xfrm>
            <a:off x="820960" y="182563"/>
            <a:ext cx="9328916" cy="762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/>
          <a:lstStyle/>
          <a:p>
            <a:pPr fontAlgn="base"/>
            <a:r>
              <a:rPr lang="en-US" altLang="zh-CN" strike="noStrike" noProof="1"/>
              <a:t>Click to edit Master title style</a:t>
            </a:r>
            <a:endParaRPr lang="zh-CN" altLang="en-US" strike="noStrike" noProof="1"/>
          </a:p>
        </p:txBody>
      </p:sp>
      <p:sp>
        <p:nvSpPr>
          <p:cNvPr id="121" name="文本框"/>
          <p:cNvSpPr>
            <a:spLocks noGrp="1"/>
          </p:cNvSpPr>
          <p:nvPr>
            <p:ph type="body" idx="1"/>
          </p:nvPr>
        </p:nvSpPr>
        <p:spPr>
          <a:xfrm>
            <a:off x="820960" y="1676400"/>
            <a:ext cx="9304211" cy="44958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/>
          <a:lstStyle/>
          <a:p>
            <a:pPr fontAlgn="base"/>
            <a:r>
              <a:rPr lang="en-US" altLang="zh-CN" strike="noStrike" noProof="1"/>
              <a:t>Click to edit Master text styles</a:t>
            </a:r>
            <a:endParaRPr lang="en-US" altLang="zh-CN" strike="noStrike" noProof="1"/>
          </a:p>
          <a:p>
            <a:pPr lvl="1" fontAlgn="base"/>
            <a:r>
              <a:rPr lang="en-US" altLang="zh-CN" strike="noStrike" noProof="1"/>
              <a:t>Second level</a:t>
            </a:r>
            <a:endParaRPr lang="en-US" altLang="zh-CN" strike="noStrike" noProof="1"/>
          </a:p>
          <a:p>
            <a:pPr lvl="2" fontAlgn="base"/>
            <a:r>
              <a:rPr lang="en-US" altLang="zh-CN" strike="noStrike" noProof="1"/>
              <a:t>Third level</a:t>
            </a:r>
            <a:endParaRPr lang="en-US" altLang="zh-CN" strike="noStrike" noProof="1"/>
          </a:p>
          <a:p>
            <a:pPr lvl="3" fontAlgn="base"/>
            <a:r>
              <a:rPr lang="en-US" altLang="zh-CN" strike="noStrike" noProof="1"/>
              <a:t>Fourth level</a:t>
            </a:r>
            <a:endParaRPr lang="en-US" altLang="zh-CN" strike="noStrike" noProof="1"/>
          </a:p>
          <a:p>
            <a:pPr lvl="4" fontAlgn="base"/>
            <a:r>
              <a:rPr lang="en-US" altLang="zh-CN" strike="noStrike" noProof="1"/>
              <a:t>Fifth level</a:t>
            </a:r>
            <a:endParaRPr lang="zh-CN" altLang="en-US" strike="noStrike" noProof="1"/>
          </a:p>
        </p:txBody>
      </p:sp>
      <p:sp>
        <p:nvSpPr>
          <p:cNvPr id="122" name="文本框"/>
          <p:cNvSpPr>
            <a:spLocks noGrp="1"/>
          </p:cNvSpPr>
          <p:nvPr>
            <p:ph type="dt" idx="10"/>
          </p:nvPr>
        </p:nvSpPr>
        <p:spPr>
          <a:xfrm>
            <a:off x="820738" y="6324600"/>
            <a:ext cx="2281238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fontAlgn="base"/>
            <a:endParaRPr lang="zh-CN" altLang="en-US" sz="1300" strike="noStrike" noProof="1">
              <a:latin typeface="Tahoma" panose="020B060403050404020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23" name="文本框"/>
          <p:cNvSpPr>
            <a:spLocks noGrp="1"/>
          </p:cNvSpPr>
          <p:nvPr>
            <p:ph type="ftr"/>
          </p:nvPr>
        </p:nvSpPr>
        <p:spPr>
          <a:xfrm>
            <a:off x="3740150" y="6324600"/>
            <a:ext cx="3465513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ctr" fontAlgn="base"/>
            <a:endParaRPr lang="zh-CN" altLang="en-US" sz="1300" strike="noStrike" noProof="1">
              <a:latin typeface="Tahoma" panose="020B0604030504040204" charset="0"/>
              <a:ea typeface="宋体" pitchFamily="2" charset="-122"/>
              <a:cs typeface="Arial" panose="020B0604020202090204" pitchFamily="34" charset="0"/>
            </a:endParaRPr>
          </a:p>
        </p:txBody>
      </p:sp>
      <p:sp>
        <p:nvSpPr>
          <p:cNvPr id="124" name="文本框"/>
          <p:cNvSpPr>
            <a:spLocks noGrp="1"/>
          </p:cNvSpPr>
          <p:nvPr>
            <p:ph type="sldNum"/>
          </p:nvPr>
        </p:nvSpPr>
        <p:spPr>
          <a:xfrm>
            <a:off x="8424863" y="6324600"/>
            <a:ext cx="2279650" cy="45720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spAutoFit/>
          </a:bodyPr>
          <a:lstStyle/>
          <a:p>
            <a:pPr algn="r" fontAlgn="base"/>
            <a:fld id="{CAD2D6BD-DE1B-4B5F-8B41-2702339687B9}" type="slidenum">
              <a:rPr lang="en-US" altLang="zh-CN" sz="1300" b="0" i="0" u="none" strike="noStrike" kern="1200" cap="none" spc="0" baseline="0" noProof="1">
                <a:solidFill>
                  <a:schemeClr val="tx1"/>
                </a:solidFill>
                <a:latin typeface="Tahoma" panose="020B0604030504040204" charset="0"/>
                <a:ea typeface="宋体" pitchFamily="2" charset="-122"/>
                <a:cs typeface="Arial" panose="020B0604020202090204" pitchFamily="34" charset="0"/>
              </a:rPr>
            </a:fld>
            <a:endParaRPr lang="zh-CN" altLang="en-US" sz="1300" strike="noStrike" noProof="1">
              <a:latin typeface="Tahoma" panose="020B060403050404020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547" b="38399"/>
          <a:stretch>
            <a:fillRect/>
          </a:stretch>
        </p:blipFill>
        <p:spPr>
          <a:xfrm flipH="1">
            <a:off x="8319059" y="2963712"/>
            <a:ext cx="2627071" cy="3894288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58" t="29135"/>
          <a:stretch>
            <a:fillRect/>
          </a:stretch>
        </p:blipFill>
        <p:spPr>
          <a:xfrm>
            <a:off x="0" y="0"/>
            <a:ext cx="1942186" cy="1865572"/>
          </a:xfrm>
          <a:prstGeom prst="rect">
            <a:avLst/>
          </a:prstGeom>
        </p:spPr>
      </p:pic>
      <p:sp>
        <p:nvSpPr>
          <p:cNvPr id="11" name="矩形: 圆顶角 10"/>
          <p:cNvSpPr/>
          <p:nvPr userDrawn="1"/>
        </p:nvSpPr>
        <p:spPr>
          <a:xfrm>
            <a:off x="278524" y="6812281"/>
            <a:ext cx="10389082" cy="45719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CA171D"/>
          </a:solidFill>
          <a:ln w="12700" cap="flat" cmpd="sng" algn="ctr">
            <a:noFill/>
            <a:prstDash val="solid"/>
            <a:miter lim="800000"/>
          </a:ln>
          <a:effectLst>
            <a:outerShdw blurRad="723900" sx="102000" sy="102000" algn="ctr" rotWithShape="0">
              <a:srgbClr val="EDA94D">
                <a:alpha val="2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81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阿里巴巴普惠体 R" charset="-122"/>
              <a:ea typeface="阿里巴巴普惠体 R" charset="-122"/>
              <a:cs typeface="+mn-cs"/>
            </a:endParaRPr>
          </a:p>
        </p:txBody>
      </p:sp>
      <p:pic>
        <p:nvPicPr>
          <p:cNvPr id="5" name="图形 4" descr="处理器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992" y="301625"/>
            <a:ext cx="513101" cy="571501"/>
          </a:xfrm>
          <a:prstGeom prst="rect">
            <a:avLst/>
          </a:prstGeom>
        </p:spPr>
      </p:pic>
      <p:pic>
        <p:nvPicPr>
          <p:cNvPr id="6" name="图片 5" descr="图片包含 游戏机, 物体, 盘子, 钟表&#10;&#10;描述已自动生成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5376" y="497961"/>
            <a:ext cx="885230" cy="268371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970614" y="397785"/>
            <a:ext cx="8238076" cy="454025"/>
          </a:xfrm>
        </p:spPr>
        <p:txBody>
          <a:bodyPr>
            <a:noAutofit/>
          </a:bodyPr>
          <a:lstStyle>
            <a:lvl1pPr>
              <a:buNone/>
              <a:defRPr sz="2155" b="1">
                <a:latin typeface="黑体" panose="02010609060101010101" charset="-122"/>
                <a:ea typeface="黑体" panose="02010609060101010101" charset="-122"/>
              </a:defRPr>
            </a:lvl1pPr>
          </a:lstStyle>
          <a:p>
            <a:pPr lvl="0"/>
            <a:r>
              <a:rPr lang="zh-CN" altLang="en-US" dirty="0"/>
              <a:t>请在此输入标题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image" Target="../media/image2.png"/><Relationship Id="rId2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20481"/>
          <p:cNvSpPr>
            <a:spLocks noGrp="1"/>
          </p:cNvSpPr>
          <p:nvPr>
            <p:ph type="title"/>
          </p:nvPr>
        </p:nvSpPr>
        <p:spPr>
          <a:xfrm>
            <a:off x="819150" y="53975"/>
            <a:ext cx="9575800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0482"/>
          <p:cNvSpPr>
            <a:spLocks noGrp="1"/>
          </p:cNvSpPr>
          <p:nvPr>
            <p:ph type="body"/>
          </p:nvPr>
        </p:nvSpPr>
        <p:spPr>
          <a:xfrm>
            <a:off x="819150" y="1697038"/>
            <a:ext cx="9575800" cy="41798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0484" name="日期占位符 20483"/>
          <p:cNvSpPr>
            <a:spLocks noGrp="1"/>
          </p:cNvSpPr>
          <p:nvPr>
            <p:ph type="dt" sz="half" idx="2"/>
          </p:nvPr>
        </p:nvSpPr>
        <p:spPr>
          <a:xfrm>
            <a:off x="8391525" y="6553200"/>
            <a:ext cx="2281238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r">
              <a:defRPr sz="1400" b="0"/>
            </a:lvl1pPr>
          </a:lstStyle>
          <a:p>
            <a:pPr lvl="0" fontAlgn="base"/>
            <a:fld id="{BB962C8B-B14F-4D97-AF65-F5344CB8AC3E}" type="datetime1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0485" name="页脚占位符 20484"/>
          <p:cNvSpPr>
            <a:spLocks noGrp="1"/>
          </p:cNvSpPr>
          <p:nvPr>
            <p:ph type="ftr" sz="quarter" idx="3"/>
          </p:nvPr>
        </p:nvSpPr>
        <p:spPr>
          <a:xfrm>
            <a:off x="3516313" y="6529388"/>
            <a:ext cx="3465513" cy="304800"/>
          </a:xfrm>
          <a:prstGeom prst="rect">
            <a:avLst/>
          </a:prstGeom>
          <a:noFill/>
          <a:ln w="9525">
            <a:noFill/>
          </a:ln>
        </p:spPr>
        <p:txBody>
          <a:bodyPr anchor="b" anchorCtr="0">
            <a:spAutoFit/>
          </a:bodyPr>
          <a:lstStyle>
            <a:lvl1pPr algn="ctr">
              <a:defRPr sz="1400" b="0"/>
            </a:lvl1pPr>
          </a:lstStyle>
          <a:p>
            <a:pPr lvl="0" fontAlgn="base"/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  <p:sp>
        <p:nvSpPr>
          <p:cNvPr id="20486" name="灯片编号占位符 20485"/>
          <p:cNvSpPr>
            <a:spLocks noGrp="1"/>
          </p:cNvSpPr>
          <p:nvPr>
            <p:ph type="sldNum" sz="quarter" idx="4"/>
          </p:nvPr>
        </p:nvSpPr>
        <p:spPr>
          <a:xfrm>
            <a:off x="98425" y="6343650"/>
            <a:ext cx="703263" cy="488950"/>
          </a:xfrm>
          <a:prstGeom prst="rect">
            <a:avLst/>
          </a:prstGeom>
          <a:noFill/>
          <a:ln w="9525">
            <a:noFill/>
          </a:ln>
        </p:spPr>
        <p:txBody>
          <a:bodyPr anchor="b" anchorCtr="1"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pPr lvl="0" fontAlgn="base"/>
            <a:fld id="{9A0DB2DC-4C9A-4742-B13C-FB6460FD3503}" type="slidenum">
              <a:rPr lang="zh-CN" altLang="en-US" strike="noStrike" noProof="1" dirty="0"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lang="zh-CN" altLang="en-US" strike="noStrike" noProof="1" dirty="0">
              <a:latin typeface="Arial" panose="020B060402020209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</p:sldLayoutIdLst>
  <p:hf sldNum="0" hdr="0" ftr="0" dt="0"/>
  <p:txStyles>
    <p:titleStyle>
      <a:lvl1pPr marL="0" lvl="0" indent="0" algn="l" defTabSz="914400" rtl="0" eaLnBrk="1" fontAlgn="base" latinLnBrk="0" hangingPunct="1">
        <a:lnSpc>
          <a:spcPct val="90000"/>
        </a:lnSpc>
        <a:spcBef>
          <a:spcPct val="0"/>
        </a:spcBef>
        <a:spcAft>
          <a:spcPct val="0"/>
        </a:spcAft>
        <a:buNone/>
        <a:defRPr sz="3600" b="1" i="0" u="none" kern="1200" baseline="0">
          <a:solidFill>
            <a:srgbClr val="000000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2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Tx/>
        <a:buChar char="–"/>
        <a:defRPr sz="24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20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Tx/>
        <a:buChar char="–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30000"/>
        </a:spcBef>
        <a:spcAft>
          <a:spcPct val="0"/>
        </a:spcAft>
        <a:buClr>
          <a:srgbClr val="000000"/>
        </a:buClr>
        <a:buFont typeface="Wingdings" panose="05000000000000000000" pitchFamily="2" charset="2"/>
        <a:buChar char="l"/>
        <a:defRPr sz="1800" b="1" i="0" u="none" kern="1200" baseline="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50000"/>
        </a:spcBef>
        <a:spcAft>
          <a:spcPct val="0"/>
        </a:spcAft>
        <a:buNone/>
        <a:defRPr b="1" i="0" u="none" kern="1200" baseline="0">
          <a:solidFill>
            <a:srgbClr val="000000"/>
          </a:solidFill>
          <a:latin typeface="Arial" panose="020B0604020202090204" pitchFamily="34" charset="0"/>
          <a:ea typeface="宋体" pitchFamily="2" charset="-122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3" name="标题 2049"/>
          <p:cNvSpPr>
            <a:spLocks noGrp="1"/>
          </p:cNvSpPr>
          <p:nvPr>
            <p:ph type="ctrTitle" sz="quarter"/>
          </p:nvPr>
        </p:nvSpPr>
        <p:spPr>
          <a:xfrm>
            <a:off x="1051560" y="1627632"/>
            <a:ext cx="8229600" cy="1417320"/>
          </a:xfrm>
        </p:spPr>
        <p:txBody>
          <a:bodyPr anchor="ctr" anchorCtr="0" wrap="square" lIns="0" rIns="0" tIns="0" bIns="0"/>
          <a:p>
            <a:pPr defTabSz="914400" algn="ct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None/>
            </a:pPr>
            <a:r>
              <a:rPr sz="3400" b="1" i="0" u="none">
                <a:solidFill>
                  <a:srgbClr val="FFFFFF"/>
                </a:solidFill>
              </a:rPr>
              <a:t>基于LoongArch架构的ART执行引擎
适配与优化技术研究</a:t>
            </a:r>
            <a:endParaRPr lang="zh-CN" altLang="en-US" kern="1200" baseline="0">
              <a:latin typeface="+mj-lt"/>
              <a:ea typeface="+mj-ea"/>
              <a:cs typeface="+mj-cs"/>
            </a:endParaRPr>
          </a:p>
        </p:txBody>
      </p:sp>
      <p:sp>
        <p:nvSpPr>
          <p:cNvPr id="59394" name="副标题 2050"/>
          <p:cNvSpPr>
            <a:spLocks noGrp="1"/>
          </p:cNvSpPr>
          <p:nvPr>
            <p:ph type="subTitle" idx="1"/>
          </p:nvPr>
        </p:nvSpPr>
        <p:spPr>
          <a:xfrm>
            <a:off x="1550988" y="4540885"/>
            <a:ext cx="8423275" cy="711200"/>
          </a:xfrm>
        </p:spPr>
        <p:txBody>
          <a:bodyPr anchor="b" anchorCtr="0"/>
          <a:p/>
        </p:txBody>
      </p:sp>
      <p:sp>
        <p:nvSpPr>
          <p:cNvPr id="59395" name="TextBox 59394"/>
          <p:cNvSpPr txBox="1"/>
          <p:nvPr/>
        </p:nvSpPr>
        <p:spPr>
          <a:xfrm>
            <a:off x="1508760" y="4315968"/>
            <a:ext cx="740664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FFFFFF"/>
                </a:solidFill>
              </a:rPr>
              <a:t>鄢玺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FFFFFF"/>
                </a:solidFill>
              </a:rPr>
              <a:t>导师：张福新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3200" b="1" i="0" u="none">
                <a:solidFill>
                  <a:srgbClr val="FFFFFF"/>
                </a:solidFill>
              </a:rPr>
              <a:t>2026年6月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答辩提纲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 anchor="ctr" lIns="164592" rIns="164592" tIns="164592" bIns="164592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 u="none">
                <a:solidFill>
                  <a:srgbClr val="002A57"/>
                </a:solidFill>
              </a:rPr>
              <a:t>01  </a:t>
            </a:r>
            <a:r>
              <a:rPr sz="1900" b="1" i="0" u="none">
                <a:solidFill>
                  <a:srgbClr val="003366"/>
                </a:solidFill>
              </a:rPr>
              <a:t>研究背景与目标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 u="none">
                <a:solidFill>
                  <a:srgbClr val="002A57"/>
                </a:solidFill>
              </a:rPr>
              <a:t>02  </a:t>
            </a:r>
            <a:r>
              <a:rPr sz="1900" b="1" i="0" u="none">
                <a:solidFill>
                  <a:srgbClr val="003366"/>
                </a:solidFill>
              </a:rPr>
              <a:t>执行引擎适配与验证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900" b="1" i="0" u="none">
                <a:solidFill>
                  <a:srgbClr val="002A57"/>
                </a:solidFill>
              </a:rPr>
              <a:t>03  </a:t>
            </a:r>
            <a:r>
              <a:rPr sz="1900" b="1" i="0" u="none">
                <a:solidFill>
                  <a:srgbClr val="003366"/>
                </a:solidFill>
              </a:rPr>
              <a:t>性能优化研究与结果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04  </a:t>
            </a:r>
            <a:r>
              <a:rPr sz="1900" b="1" i="0" u="none">
                <a:solidFill>
                  <a:srgbClr val="003366"/>
                </a:solidFill>
              </a:rP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一、研究背景与目标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问题定义、研究主线与论文贡献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问题定义与主要贡献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核心问题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anchor="t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AOSP 15 官方主线尚未提供 LoongArch 平台 ART 执行引擎实现。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论文必须同时回答“能运行、能验证、能优化”三个问题。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性能结论需要统一 baseline 与可复核证据链支撑。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论文回答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 anchor="t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完成执行引擎关键模块适配，建立 LoongArch 平台 ART 执行闭环。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建立编译、部署、run-test、libcore、benchmark 的统一验证链路。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筛选三项正式方案，并区分稳定收益、边界性收益与失败样本。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623560"/>
            <a:ext cx="8732520" cy="384048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" rIns="27432" tIns="27432" bIns="27432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主线不是零散 patch，而是“适配设计 → 验证收敛 → 优化筛选”的系统闭环。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整体研究路线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 wrap="square" anchor="t" tIns="91440" bIns="9144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 u="none">
                <a:solidFill>
                  <a:srgbClr val="002A57"/>
                </a:solidFill>
              </a:rPr>
              <a:t>本文从“可运行”推进到“可验证”再到“可优化”，最终给出稳定主结论与收益边界。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执行引擎适配解决平台可用性问题。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统一验证链路保证语义正确与性能比较口径一致。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正式单次对比与重复测量共同约束优化结论的强度。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752546" y="4040123"/>
            <a:ext cx="196596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执行引擎适配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补齐关键模块，建立 LoongArch 平台可运行 ART。</a:t>
            </a:r>
          </a:p>
        </p:txBody>
      </p:sp>
      <p:sp>
        <p:nvSpPr>
          <p:cNvPr id="6" name="Chevron 5"/>
          <p:cNvSpPr/>
          <p:nvPr/>
        </p:nvSpPr>
        <p:spPr>
          <a:xfrm>
            <a:off x="2791657" y="4405884"/>
            <a:ext cx="379428" cy="347472"/>
          </a:xfrm>
          <a:prstGeom prst="chevron">
            <a:avLst/>
          </a:prstGeom>
          <a:solidFill>
            <a:srgbClr val="002A57"/>
          </a:solidFill>
          <a:ln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4238" y="4040123"/>
            <a:ext cx="196596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统一验证链路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以 run-test / libcore / benchmark 建立可复核证据。</a:t>
            </a:r>
          </a:p>
        </p:txBody>
      </p:sp>
      <p:sp>
        <p:nvSpPr>
          <p:cNvPr id="8" name="Chevron 7"/>
          <p:cNvSpPr/>
          <p:nvPr/>
        </p:nvSpPr>
        <p:spPr>
          <a:xfrm>
            <a:off x="5283350" y="4405884"/>
            <a:ext cx="379428" cy="347472"/>
          </a:xfrm>
          <a:prstGeom prst="chevron">
            <a:avLst/>
          </a:prstGeom>
          <a:solidFill>
            <a:srgbClr val="002A57"/>
          </a:solidFill>
          <a:ln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35930" y="4040123"/>
            <a:ext cx="196596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热点分析筛选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固定 baseline，定位真正影响 workload 的主导热点。</a:t>
            </a:r>
          </a:p>
        </p:txBody>
      </p:sp>
      <p:sp>
        <p:nvSpPr>
          <p:cNvPr id="10" name="Chevron 9"/>
          <p:cNvSpPr/>
          <p:nvPr/>
        </p:nvSpPr>
        <p:spPr>
          <a:xfrm>
            <a:off x="7775042" y="4405884"/>
            <a:ext cx="379428" cy="347472"/>
          </a:xfrm>
          <a:prstGeom prst="chevron">
            <a:avLst/>
          </a:prstGeom>
          <a:solidFill>
            <a:srgbClr val="002A57"/>
          </a:solidFill>
          <a:ln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7623" y="4040123"/>
            <a:ext cx="196596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正式结论形成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区分稳定收益、边界性收益与失败样本。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60120" y="5230368"/>
            <a:ext cx="2560320" cy="6217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工程产出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执行闭环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03320" y="5230368"/>
            <a:ext cx="2560320" cy="6217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方法产出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统一验证链路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5230368"/>
            <a:ext cx="2560320" cy="6217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研究产出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稳定主收益结论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二、执行引擎适配与验证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建立可运行、可验证的 LoongArch 平台 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执行引擎适配的系统闭环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078992"/>
            <a:ext cx="8732520" cy="384048"/>
          </a:xfrm>
          <a:prstGeom prst="roundRect">
            <a:avLst/>
          </a:prstGeom>
          <a:solidFill>
            <a:srgbClr val="002A57"/>
          </a:solidFill>
          <a:ln w="15240">
            <a:solidFill>
              <a:srgbClr val="002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FFFFFF"/>
                </a:solidFill>
              </a:rPr>
              <a:t>核心目标：以执行路径为主线补齐关键模块，形成可运行、可验证的 LoongArch 平台 ART 执行闭环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64208"/>
            <a:ext cx="8641080" cy="502920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1" i="0" u="none">
                <a:solidFill>
                  <a:srgbClr val="002A57"/>
                </a:solidFill>
              </a:rPr>
              <a:t>从汇编器、解释器到 JIT、JNI 与运行时入口，关键不是单点可跑，而是整条执行链条同时闭合。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487168"/>
            <a:ext cx="224028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Assembler 与基础生成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寄存器、指令编码、分支与链接修补能力。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2487168"/>
            <a:ext cx="224028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C++ 解释器与 Nterp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补齐解释执行与字节码派发的关键路径。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2487168"/>
            <a:ext cx="224028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JIT 后端与 OSR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打通 HIR 到 LoongArch64 机器码生成。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950208"/>
            <a:ext cx="224028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JNI 编译器与桥接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闭合 Java / native 调用链与栈帧约定。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3950208"/>
            <a:ext cx="2240280" cy="1078992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Runtime Fast Path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补齐字符串、调用桩、deopt 等运行时入口。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950208"/>
            <a:ext cx="2240280" cy="1078992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82296" tIns="82296" bIns="82296"/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700" b="1" i="0" u="none">
                <a:solidFill>
                  <a:srgbClr val="003366"/>
                </a:solidFill>
              </a:rPr>
              <a:t>Intrinsic 与能力扩展</a:t>
            </a: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</a:pPr>
            <a:r>
              <a:rPr sz="1300" b="0" i="0" u="none">
                <a:solidFill>
                  <a:srgbClr val="003366"/>
                </a:solidFill>
              </a:rPr>
              <a:t>补充标准库热点路径与执行引擎成熟度。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5486400"/>
            <a:ext cx="8641080" cy="384048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结论：适配结果是执行引擎系统闭环，不是若干体系结构相关文件的零散移植。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正确性验证结果</a:t>
            </a:r>
          </a:p>
        </p:txBody>
      </p:sp>
      <p:graphicFrame>
        <p:nvGraphicFramePr>
          <p:cNvPr id="3" name="Table Placeholder 2"/>
          <p:cNvGraphicFramePr>
            <a:graphicFrameLocks noGrp="1"/>
          </p:cNvGraphicFramePr>
          <p:nvPr>
            <p:ph type="tbl" idx="1"/>
          </p:nvPr>
        </p:nvGraphicFramePr>
        <p:xfrm>
          <a:off x="819150" y="1697038"/>
          <a:ext cx="93726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08760"/>
                <a:gridCol w="5715000"/>
              </a:tblGrid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验证项</a:t>
                      </a:r>
                    </a:p>
                  </a:txBody>
                  <a:tcPr>
                    <a:solidFill>
                      <a:srgbClr val="002A57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结果</a:t>
                      </a:r>
                    </a:p>
                  </a:txBody>
                  <a:tcPr>
                    <a:solidFill>
                      <a:srgbClr val="002A57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说明</a:t>
                      </a:r>
                    </a:p>
                  </a:txBody>
                  <a:tcPr>
                    <a:solidFill>
                      <a:srgbClr val="002A57"/>
                    </a:solidFill>
                  </a:tcPr>
                </a:tc>
              </a:tr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run-test 用例总数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1033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art/test 当前 run-test 用例总数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compiler 变体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7 类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interp-ac、interpreter、jit、jit-on-first-use、optimizing、speed-profile、baseline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理论配置数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7231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1033 × 7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自动 skip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430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根据 knownfailures 规则自动跳过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实际执行数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6801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系统级目标机回归实际执行集合</a:t>
                      </a:r>
                    </a:p>
                  </a:txBody>
                  <a:tcPr>
                    <a:solidFill>
                      <a:srgbClr val="F7FBFB"/>
                    </a:solidFill>
                  </a:tcPr>
                </a:tc>
              </a:tr>
              <a:tr h="594360"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libcore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ctr"/>
                      <a:r>
                        <a:rPr sz="1200" b="0">
                          <a:solidFill>
                            <a:srgbClr val="003366"/>
                          </a:solidFill>
                        </a:rPr>
                        <a:t>主要测试包通过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45720" rIns="45720" tIns="27432" bIns="27432"/>
                    <a:lstStyle/>
                    <a:p>
                      <a:pPr algn="l"/>
                      <a:r>
                        <a:rPr sz="1150" b="0">
                          <a:solidFill>
                            <a:srgbClr val="003366"/>
                          </a:solidFill>
                        </a:rPr>
                        <a:t>少量因架构条件限制自动跳过，不影响主要正确性结论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三、性能优化研究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统一 baseline、热点驱动与收益边界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三项正式方案的单次结果总览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1847088"/>
            <a:ext cx="4160520" cy="4005072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 u="none">
                <a:solidFill>
                  <a:srgbClr val="002A57"/>
                </a:solidFill>
              </a:rPr>
              <a:t>统一 baseline 下，同日三项正式方案的收益层级已经足够清晰。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方案一：JIT 热度阈值调整，pmd +3.30%，但复测稳定性不足。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方案二：字符串搬运批量化，pmd +0.86%，同时 lu.small -8.89%。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方案三：LSX 浮点 SIMD，lu.small +44.40%，且证据链最完整。</a:t>
            </a:r>
          </a:p>
        </p:txBody>
      </p:sp>
      <p:pic>
        <p:nvPicPr>
          <p:cNvPr id="6" name="Picture 5" descr="final-comparison-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771814"/>
            <a:ext cx="5074920" cy="21921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稳定主结论：LSX 浮点 SIMD 向量化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68096" y="1847088"/>
            <a:ext cx="4160520" cy="3840480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 u="none">
                <a:solidFill>
                  <a:srgbClr val="002A57"/>
                </a:solidFill>
              </a:rPr>
              <a:t>LSX 浮点 SIMD 是当前唯一同时满足收益、解释性与复现性的正式方案。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补齐 float32/float64 的核心 lowering，直接命中 lu.small 主热点。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正式单次结果：46.22 → 66.74 ops/m，增益 +44.40%。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同日 3 轮复测均值 +45.70%，标准差仅 0.50 ops/m。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084064"/>
            <a:ext cx="1755648" cy="694944"/>
          </a:xfrm>
          <a:prstGeom prst="roundRect">
            <a:avLst/>
          </a:prstGeom>
          <a:solidFill>
            <a:srgbClr val="DCEFD8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单次增益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+44.40%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88920" y="5084064"/>
            <a:ext cx="1920240" cy="694944"/>
          </a:xfrm>
          <a:prstGeom prst="roundRect">
            <a:avLst/>
          </a:prstGeom>
          <a:solidFill>
            <a:srgbClr val="DDF6F6"/>
          </a:solidFill>
          <a:ln w="15240">
            <a:solidFill>
              <a:srgbClr val="DDF6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i="0" u="none">
                <a:solidFill>
                  <a:srgbClr val="003366"/>
                </a:solidFill>
              </a:rPr>
              <a:t>复测均值</a:t>
            </a:r>
          </a:p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2000" b="1" i="0" u="none">
                <a:solidFill>
                  <a:srgbClr val="002A57"/>
                </a:solidFill>
              </a:rPr>
              <a:t>+45.70%</a:t>
            </a:r>
          </a:p>
        </p:txBody>
      </p:sp>
      <p:pic>
        <p:nvPicPr>
          <p:cNvPr id="8" name="Picture 7" descr="statistical-validation-strip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0912" y="2756311"/>
            <a:ext cx="5074920" cy="22232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收益边界与方法论结论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half"/>
          </p:nvPr>
        </p:nvSpPr>
        <p:spPr/>
        <p:txBody>
          <a:bodyPr wrap="square" anchor="t" tIns="91440" bIns="9144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 u="none">
                <a:solidFill>
                  <a:srgbClr val="002A57"/>
                </a:solidFill>
              </a:rPr>
              <a:t>优化是否值得保留，取决于收益边界是否清晰、证据链是否完整。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方案一在 pmd 上存在正收益样本，但复测均值尚未稳定转正。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方案二说明“局部热点下降”不等于“全局 benchmark 提升”。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方案三收益集中在规则浮点循环，并不会自动推广到所有数值 workload。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因此，LoongArch 平台 ART 优化应优先命中主导热点，并严格控制副作用。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pic>
        <p:nvPicPr>
          <p:cNvPr id="5" name="Picture 4" descr="final-comparison-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478" y="3000524"/>
            <a:ext cx="4652105" cy="200153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四、总结与展望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800" b="0" i="0" u="none">
                <a:solidFill>
                  <a:srgbClr val="5B6470"/>
                </a:solidFill>
              </a:rPr>
              <a:t>论文结论、方法价值与后续工作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2800" b="1" i="0" u="none">
                <a:solidFill>
                  <a:srgbClr val="003366"/>
                </a:solidFill>
              </a:rPr>
              <a:t>总结与展望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论文主结论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 wrap="square" anchor="t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AOSP 15 ART 在 LoongArch 平台上的执行引擎适配是可行的。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统一验证链路与固定 baseline 是性能研究具备解释价值的前提。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只有命中主导热点、边界清晰且可复现的方案才值得保留。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900" b="1" i="0" u="none">
                <a:solidFill>
                  <a:srgbClr val="002A57"/>
                </a:solidFill>
              </a:rPr>
              <a:t>后续工作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 wrap="square" anchor="t" tIns="91440" bIns="9144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完善 AOT / 安装期编译支持。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扩展 LSX / LASX 能力与更高层门控。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引入更多 benchmark 与应用级验证。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003366"/>
                </a:solidFill>
              </a:rPr>
              <a:t>增强低扰动观测与运行时因果分析。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5596128"/>
            <a:ext cx="8732520" cy="347472"/>
          </a:xfrm>
          <a:prstGeom prst="roundRect">
            <a:avLst/>
          </a:prstGeom>
          <a:solidFill>
            <a:srgbClr val="F7FBFB"/>
          </a:solidFill>
          <a:ln w="15240">
            <a:solidFill>
              <a:srgbClr val="DCEF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300" b="1" i="0" u="none">
                <a:solidFill>
                  <a:srgbClr val="002A57"/>
                </a:solidFill>
              </a:rPr>
              <a:t>本文的核心产出不仅是工程闭环，更是“什么值得保留、为什么成立、边界在哪里”的研究方法。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3000" b="1" i="0" u="none">
                <a:solidFill>
                  <a:srgbClr val="002A57"/>
                </a:solidFill>
              </a:rPr>
              <a:t>感谢聆听！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 wrap="square" anchor="ctr" lIns="0" rIns="0" tIns="0" bIns="0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2000" b="1" i="0" u="none">
                <a:solidFill>
                  <a:srgbClr val="003366"/>
                </a:solidFill>
              </a:rPr>
              <a:t>请各位老师批评指正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600" b="0" i="0" u="none">
                <a:solidFill>
                  <a:srgbClr val="5B6470"/>
                </a:solidFill>
              </a:rPr>
              <a:t>Q&amp;A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PP_MARK_KEY" val="1ebeca6c-6250-4f9f-b765-391e52f62e4f"/>
  <p:tag name="COMMONDATA" val="eyJoZGlkIjoiMzMxNWMxYTNlYWE2MmM4MzRiOTk2YzFkNzgwOTY2MjcifQ=="/>
</p:tagLst>
</file>

<file path=ppt/theme/theme1.xml><?xml version="1.0" encoding="utf-8"?>
<a:theme xmlns:a="http://schemas.openxmlformats.org/drawingml/2006/main" name="PPT模板2">
  <a:themeElements>
    <a:clrScheme name="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7"/>
      </a:accent4>
      <a:accent5>
        <a:srgbClr val="CAE2CA"/>
      </a:accent5>
      <a:accent6>
        <a:srgbClr val="2DB7B7"/>
      </a:accent6>
      <a:hlink>
        <a:srgbClr val="666699"/>
      </a:hlink>
      <a:folHlink>
        <a:srgbClr val="CC99FF"/>
      </a:folHlink>
    </a:clrScheme>
    <a:fontScheme name="">
      <a:majorFont>
        <a:latin typeface="Arial"/>
        <a:ea typeface="楷体_GB2312"/>
        <a:cs typeface=""/>
      </a:majorFont>
      <a:minorFont>
        <a:latin typeface="Arial"/>
        <a:ea typeface="楷体_GB2312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EB"/>
        </a:dk1>
        <a:lt1>
          <a:srgbClr val="336699"/>
        </a:lt1>
        <a:dk2>
          <a:srgbClr val="FFFFEB"/>
        </a:dk2>
        <a:lt2>
          <a:srgbClr val="000066"/>
        </a:lt2>
        <a:accent1>
          <a:srgbClr val="666699"/>
        </a:accent1>
        <a:accent2>
          <a:srgbClr val="99CCFF"/>
        </a:accent2>
        <a:accent3>
          <a:srgbClr val="ADB9CA"/>
        </a:accent3>
        <a:accent4>
          <a:srgbClr val="DCDCCA"/>
        </a:accent4>
        <a:accent5>
          <a:srgbClr val="B9B9CA"/>
        </a:accent5>
        <a:accent6>
          <a:srgbClr val="89B7E5"/>
        </a:accent6>
        <a:hlink>
          <a:srgbClr val="CCCCFF"/>
        </a:hlink>
        <a:folHlink>
          <a:srgbClr val="C68D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7"/>
        </a:accent4>
        <a:accent5>
          <a:srgbClr val="CAE2CA"/>
        </a:accent5>
        <a:accent6>
          <a:srgbClr val="2DB7B7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27272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9"/>
        </a:accent5>
        <a:accent6>
          <a:srgbClr val="2DB7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CPU中心2014年总结v3.0</Template>
  <TotalTime>0</TotalTime>
  <Words>1313</Words>
  <Application>WPS 文字</Application>
  <PresentationFormat>自定义</PresentationFormat>
  <Paragraphs>125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4" baseType="lpstr">
      <vt:lpstr>Arial</vt:lpstr>
      <vt:lpstr>宋体</vt:lpstr>
      <vt:lpstr>Wingdings</vt:lpstr>
      <vt:lpstr>汉仪书宋二KW</vt:lpstr>
      <vt:lpstr>楷体_GB2312</vt:lpstr>
      <vt:lpstr>Times New Roman</vt:lpstr>
      <vt:lpstr>微软雅黑</vt:lpstr>
      <vt:lpstr>汉仪旗黑</vt:lpstr>
      <vt:lpstr>Tahoma</vt:lpstr>
      <vt:lpstr>阿里巴巴普惠体 R</vt:lpstr>
      <vt:lpstr>黑体</vt:lpstr>
      <vt:lpstr>汉仪中黑KW</vt:lpstr>
      <vt:lpstr>Wingdings</vt:lpstr>
      <vt:lpstr>汉仪楷体简</vt:lpstr>
      <vt:lpstr>宋体</vt:lpstr>
      <vt:lpstr>Arial Unicode MS</vt:lpstr>
      <vt:lpstr>Menlo</vt:lpstr>
      <vt:lpstr>Arail</vt:lpstr>
      <vt:lpstr>苹方-简</vt:lpstr>
      <vt:lpstr>Thonburi</vt:lpstr>
      <vt:lpstr>Arail</vt:lpstr>
      <vt:lpstr>Menlo</vt:lpstr>
      <vt:lpstr>楷体_GB2312</vt:lpstr>
      <vt:lpstr>PPT模板2</vt:lpstr>
      <vt:lpstr>基于LoongArch架构的ART虚拟机执行引擎适配与优化技术研究</vt:lpstr>
      <vt:lpstr>适配工作</vt:lpstr>
      <vt:lpstr>特殊机制</vt:lpstr>
      <vt:lpstr>提纲</vt:lpstr>
      <vt:lpstr>主体架构</vt:lpstr>
      <vt:lpstr>DexFileVerifier介绍</vt:lpstr>
      <vt:lpstr>热点函数优化</vt:lpstr>
      <vt:lpstr>热点函数优化效果</vt:lpstr>
      <vt:lpstr>基于缓存局部性的数据结构优化</vt:lpstr>
      <vt:lpstr>基于缓存局部性的数据结构优化效果（累计）</vt:lpstr>
      <vt:lpstr>基于查找表的字符串处理</vt:lpstr>
      <vt:lpstr>基于查找表的字符串处理</vt:lpstr>
      <vt:lpstr>LEB128 快速路径优化</vt:lpstr>
      <vt:lpstr>LEB128 快速路径优化效果</vt:lpstr>
      <vt:lpstr>jit模块</vt:lpstr>
      <vt:lpstr>编译器模块</vt:lpstr>
      <vt:lpstr>编译器Pass优化</vt:lpstr>
      <vt:lpstr>提纲</vt:lpstr>
      <vt:lpstr>下一步工作计划</vt:lpstr>
      <vt:lpstr>感谢聆听！请批评指导！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基于LoongArch架构的ART执行引擎适配与优化技术研究</dc:title>
  <dc:creator>Yanxi</dc:creator>
  <cp:lastModifiedBy>  </cp:lastModifiedBy>
  <cp:revision>816</cp:revision>
  <dcterms:created xsi:type="dcterms:W3CDTF">2025-12-28T05:14:42Z</dcterms:created>
  <dcterms:modified xsi:type="dcterms:W3CDTF">2025-12-28T05:14:42Z</dcterms:modified>
  <dc:subject>硕士毕业论文答辩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/>
  </property>
</Properties>
</file>